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6015bebab446f5" /><Relationship Type="http://schemas.openxmlformats.org/officeDocument/2006/relationships/extended-properties" Target="/docProps/app.xml" Id="R8cc176654f114295" /><Relationship Type="http://schemas.openxmlformats.org/officeDocument/2006/relationships/officeDocument" Target="/ppt/presentation.xml" Id="Rf6234649bc0c44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9a6b393cc249e4"/>
  </p:sldMasterIdLst>
  <p:notesMasterIdLst>
    <p:notesMasterId xmlns:r="http://schemas.openxmlformats.org/officeDocument/2006/relationships" r:id="Rcab77da940544f36"/>
  </p:notesMasterIdLst>
  <p:sldIdLst>
    <p:sldId xmlns:r="http://schemas.openxmlformats.org/officeDocument/2006/relationships" id="256" r:id="R6fa3c3b5e4a14e9f"/>
    <p:sldId xmlns:r="http://schemas.openxmlformats.org/officeDocument/2006/relationships" id="257" r:id="R4d8b7de618ef4b79"/>
    <p:sldId xmlns:r="http://schemas.openxmlformats.org/officeDocument/2006/relationships" id="258" r:id="Raf46e8bf872e4038"/>
    <p:sldId xmlns:r="http://schemas.openxmlformats.org/officeDocument/2006/relationships" id="259" r:id="R50a2f4d8737e4b57"/>
    <p:sldId xmlns:r="http://schemas.openxmlformats.org/officeDocument/2006/relationships" id="260" r:id="R14919b0bc258456a"/>
    <p:sldId xmlns:r="http://schemas.openxmlformats.org/officeDocument/2006/relationships" id="261" r:id="R2c646bbb17b746db"/>
    <p:sldId xmlns:r="http://schemas.openxmlformats.org/officeDocument/2006/relationships" id="262" r:id="Rf7d52092a28549a5"/>
    <p:sldId xmlns:r="http://schemas.openxmlformats.org/officeDocument/2006/relationships" id="263" r:id="Rddb91877480342c2"/>
    <p:sldId xmlns:r="http://schemas.openxmlformats.org/officeDocument/2006/relationships" id="264" r:id="R67288fde1879408b"/>
    <p:sldId xmlns:r="http://schemas.openxmlformats.org/officeDocument/2006/relationships" id="265" r:id="R57f438585f1a4c9a"/>
    <p:sldId xmlns:r="http://schemas.openxmlformats.org/officeDocument/2006/relationships" id="266" r:id="R34c85b6d49c449b9"/>
    <p:sldId xmlns:r="http://schemas.openxmlformats.org/officeDocument/2006/relationships" id="267" r:id="R2882c09eb88e427a"/>
    <p:sldId xmlns:r="http://schemas.openxmlformats.org/officeDocument/2006/relationships" id="268" r:id="R3b8c01c11dd740bb"/>
    <p:sldId xmlns:r="http://schemas.openxmlformats.org/officeDocument/2006/relationships" id="269" r:id="Re2c74e17673347fa"/>
    <p:sldId xmlns:r="http://schemas.openxmlformats.org/officeDocument/2006/relationships" id="270" r:id="R37d4f094226a426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fdcd6a801b4e55" /><Relationship Type="http://schemas.openxmlformats.org/officeDocument/2006/relationships/slideMaster" Target="/ppt/slideMasters/slideMaster1.xml" Id="R559a6b393cc249e4" /><Relationship Type="http://schemas.openxmlformats.org/officeDocument/2006/relationships/notesMaster" Target="/ppt/notesMasters/notesMaster1.xml" Id="Rcab77da940544f36" /><Relationship Type="http://schemas.openxmlformats.org/officeDocument/2006/relationships/presProps" Target="/ppt/presProps.xml" Id="Rb305df20413c4029" /><Relationship Type="http://schemas.openxmlformats.org/officeDocument/2006/relationships/tableStyles" Target="/ppt/tableStyles.xml" Id="Rc7d62c159a0a4f6b" /><Relationship Type="http://schemas.openxmlformats.org/officeDocument/2006/relationships/slide" Target="/ppt/slides/slide1.xml" Id="R6fa3c3b5e4a14e9f" /><Relationship Type="http://schemas.openxmlformats.org/officeDocument/2006/relationships/slide" Target="/ppt/slides/slide2.xml" Id="R4d8b7de618ef4b79" /><Relationship Type="http://schemas.openxmlformats.org/officeDocument/2006/relationships/slide" Target="/ppt/slides/slide3.xml" Id="Raf46e8bf872e4038" /><Relationship Type="http://schemas.openxmlformats.org/officeDocument/2006/relationships/slide" Target="/ppt/slides/slide4.xml" Id="R50a2f4d8737e4b57" /><Relationship Type="http://schemas.openxmlformats.org/officeDocument/2006/relationships/slide" Target="/ppt/slides/slide5.xml" Id="R14919b0bc258456a" /><Relationship Type="http://schemas.openxmlformats.org/officeDocument/2006/relationships/slide" Target="/ppt/slides/slide6.xml" Id="R2c646bbb17b746db" /><Relationship Type="http://schemas.openxmlformats.org/officeDocument/2006/relationships/slide" Target="/ppt/slides/slide7.xml" Id="Rf7d52092a28549a5" /><Relationship Type="http://schemas.openxmlformats.org/officeDocument/2006/relationships/slide" Target="/ppt/slides/slide8.xml" Id="Rddb91877480342c2" /><Relationship Type="http://schemas.openxmlformats.org/officeDocument/2006/relationships/slide" Target="/ppt/slides/slide9.xml" Id="R67288fde1879408b" /><Relationship Type="http://schemas.openxmlformats.org/officeDocument/2006/relationships/slide" Target="/ppt/slides/slide10.xml" Id="R57f438585f1a4c9a" /><Relationship Type="http://schemas.openxmlformats.org/officeDocument/2006/relationships/slide" Target="/ppt/slides/slide11.xml" Id="R34c85b6d49c449b9" /><Relationship Type="http://schemas.openxmlformats.org/officeDocument/2006/relationships/slide" Target="/ppt/slides/slide12.xml" Id="R2882c09eb88e427a" /><Relationship Type="http://schemas.openxmlformats.org/officeDocument/2006/relationships/slide" Target="/ppt/slides/slide13.xml" Id="R3b8c01c11dd740bb" /><Relationship Type="http://schemas.openxmlformats.org/officeDocument/2006/relationships/slide" Target="/ppt/slides/slide14.xml" Id="Re2c74e17673347fa" /><Relationship Type="http://schemas.openxmlformats.org/officeDocument/2006/relationships/slide" Target="/ppt/slides/slide15.xml" Id="R37d4f094226a42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02161f94e244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871563e2634426" /><Relationship Type="http://schemas.openxmlformats.org/officeDocument/2006/relationships/notesMaster" Target="/ppt/notesMasters/notesMaster1.xml" Id="R469031d0831a4f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38177a4c374aa1" /><Relationship Type="http://schemas.openxmlformats.org/officeDocument/2006/relationships/notesMaster" Target="/ppt/notesMasters/notesMaster1.xml" Id="R0d6e44e9a90444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dfde26bb19485b" /><Relationship Type="http://schemas.openxmlformats.org/officeDocument/2006/relationships/notesMaster" Target="/ppt/notesMasters/notesMaster1.xml" Id="R80c3b42e508540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06cbf62d5d44c8" /><Relationship Type="http://schemas.openxmlformats.org/officeDocument/2006/relationships/notesMaster" Target="/ppt/notesMasters/notesMaster1.xml" Id="Rd67ca5ecb1fb4c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17c1b021544247" /><Relationship Type="http://schemas.openxmlformats.org/officeDocument/2006/relationships/notesMaster" Target="/ppt/notesMasters/notesMaster1.xml" Id="R412fe14d90944e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b83d4ee41f4939" /><Relationship Type="http://schemas.openxmlformats.org/officeDocument/2006/relationships/notesMaster" Target="/ppt/notesMasters/notesMaster1.xml" Id="R8fd2c522a15042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a96419582b4482" /><Relationship Type="http://schemas.openxmlformats.org/officeDocument/2006/relationships/notesMaster" Target="/ppt/notesMasters/notesMaster1.xml" Id="R864f57568d4346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bda17b11aa480b" /><Relationship Type="http://schemas.openxmlformats.org/officeDocument/2006/relationships/notesMaster" Target="/ppt/notesMasters/notesMaster1.xml" Id="Ra789e567926a47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c1806fb0d44f63" /><Relationship Type="http://schemas.openxmlformats.org/officeDocument/2006/relationships/notesMaster" Target="/ppt/notesMasters/notesMaster1.xml" Id="Rd170e7b8f0ae44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32b9288c494d64" /><Relationship Type="http://schemas.openxmlformats.org/officeDocument/2006/relationships/notesMaster" Target="/ppt/notesMasters/notesMaster1.xml" Id="Rc6362deebf0d41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38f838681641bb" /><Relationship Type="http://schemas.openxmlformats.org/officeDocument/2006/relationships/notesMaster" Target="/ppt/notesMasters/notesMaster1.xml" Id="R7ed4b82a9ae04c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cf26ca71a4421a" /><Relationship Type="http://schemas.openxmlformats.org/officeDocument/2006/relationships/notesMaster" Target="/ppt/notesMasters/notesMaster1.xml" Id="R2d1da6cc0df047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27ffb6ec634a1c" /><Relationship Type="http://schemas.openxmlformats.org/officeDocument/2006/relationships/notesMaster" Target="/ppt/notesMasters/notesMaster1.xml" Id="Rdc5b7c1a22c94b9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933edfc17a445d6" /><Relationship Type="http://schemas.openxmlformats.org/officeDocument/2006/relationships/notesMaster" Target="/ppt/notesMasters/notesMaster1.xml" Id="R7a70ca62404947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0b73a128c7642e8" /><Relationship Type="http://schemas.openxmlformats.org/officeDocument/2006/relationships/notesMaster" Target="/ppt/notesMasters/notesMaster1.xml" Id="Rcd5e1d01fcca4d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논문 스터디의 프레이밍은 모델 자체보다 디코딩 병목을 푸는 방법입니다. 제목의 Efficient는 모델 경량화보다 output generation 효율을 의미한다는 점을 먼저 잡아주세요.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발표의 로드맵입니다. 특히 PTP-0, PTP-1, PTP-2의 의미를 미리 잡아주면 뒤 결과표가 잘 읽힙니다.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일반 VLU task와 달리 document parsing은 매우 긴 출력이 자주 발생합니다. 그래서 prefill보다 decode side의 반복 비용이 실전 병목이 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비교표에서는 PTP가 기존 방법을 대체한다기보다 같이 쓸 수 있는 축이라는 점을 강조하세요. 특히 sequence compression이나 visual token reduction과는 병목 위치가 다릅니다.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데이터 엔진은 논문 기여 2번입니다. AI 연구원 대상 발표에서는 이 부분을 대충 넘기면 안 됩니다. 실험 결과의 baseline 자체가 좋은 데이터로 fine-tune됐기 때문입니다.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2를 설명할 때 register는 별도 head가 아니라 같은 model path를 통과하는 learnable continuous token이라는 점을 강조하세요.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수식은 완전한 notation 설명보다 training pressure를 이해시키는 데 집중하세요. regular token은 기존 NTP를 유지하고 register는 auxiliary future prediction을 담당합니다.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KV cache replacement는 ablation에서 중요하게 나옵니다. register prediction을 그대로 cache에 남기면 semantic token이 아닌 중간 표현이 다음 step에 오염을 만들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이름이 헷갈릴 수 있습니다. NTP vs PTP-0은 objective 차이, PTP-0 vs PTP-1/2는 inference register 사용 차이로 설명하면 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슬라이드에서 중요한 점은 PTP-2가 항상 좋지 않다는 것입니다. register 수가 늘면 더 먼 미래 예측이 어려워지고 분포 shift가 생깁니다.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속도 결과는 발표에서 가장 강한 수치입니다. 동시에 serving 조건 의존성을 함께 말하면 과장 없는 발표가 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formula result는 PTP가 무조건 register를 많이 넣으면 좋다는 이야기가 아니라는 반례입니다. 연구 토론에서 가장 좋은 질문 포인트입니다.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ablation table에서는 w/o KV cache의 formula CDM 붕괴가 가장 중요합니다. register의 cache를 다음 context로 유지하면 model state가 오염된다는 해석이 가능합니다.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비판 슬라이드는 논문을 깎아내리는 목적이 아니라 후속 연구 질문을 만들기 위한 것입니다. 특히 code availability와 data confounding은 연구원 audience에서 반드시 나올 질문입니다.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 슬라이드는 토론으로 넘어가기 위한 질문입니다. 사용자의 연구 맥락에 맞춰 DeepParser나 내부 document parsing runtime에 어떻게 붙일지 이야기하기 좋습니다.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c3db60b26b4d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bd601115294218" /><Relationship Type="http://schemas.openxmlformats.org/officeDocument/2006/relationships/slideLayout" Target="/ppt/slideLayouts/slideLayout1.xml" Id="Rcc217215894041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217215894041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92d6ce3534584" /><Relationship Type="http://schemas.openxmlformats.org/officeDocument/2006/relationships/notesSlide" Target="/ppt/notesSlides/notesSlide1.xml" Id="Re3fe7ca1b8ca4c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1aa331ee34e22" /><Relationship Type="http://schemas.openxmlformats.org/officeDocument/2006/relationships/notesSlide" Target="/ppt/notesSlides/notesSlide2.xml" Id="Rcfcfa34140494d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fc3b0deb84510" /><Relationship Type="http://schemas.openxmlformats.org/officeDocument/2006/relationships/notesSlide" Target="/ppt/notesSlides/notesSlide3.xml" Id="R9a69cf87095041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d238e300b4c21" /><Relationship Type="http://schemas.openxmlformats.org/officeDocument/2006/relationships/notesSlide" Target="/ppt/notesSlides/notesSlide4.xml" Id="R73fb7cd3d8b841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4a80834b54c70" /><Relationship Type="http://schemas.openxmlformats.org/officeDocument/2006/relationships/image" Target="/ppt/media/image.png" Id="R566f92f79c4c4e09" /><Relationship Type="http://schemas.openxmlformats.org/officeDocument/2006/relationships/notesSlide" Target="/ppt/notesSlides/notesSlide5.xml" Id="R81d0ff2432424b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de116ae1943c7" /><Relationship Type="http://schemas.openxmlformats.org/officeDocument/2006/relationships/image" Target="/ppt/media/image2.png" Id="Rc6cd9e3727e04d8b" /><Relationship Type="http://schemas.openxmlformats.org/officeDocument/2006/relationships/notesSlide" Target="/ppt/notesSlides/notesSlide6.xml" Id="Rb3df8dc38fd94e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d8c4d2c324eae" /><Relationship Type="http://schemas.openxmlformats.org/officeDocument/2006/relationships/notesSlide" Target="/ppt/notesSlides/notesSlide7.xml" Id="R9289ede465c74b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0eedc06c14ff9" /><Relationship Type="http://schemas.openxmlformats.org/officeDocument/2006/relationships/notesSlide" Target="/ppt/notesSlides/notesSlide8.xml" Id="Rd29c4fcb1d5140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d73c0b33348c1" /><Relationship Type="http://schemas.openxmlformats.org/officeDocument/2006/relationships/notesSlide" Target="/ppt/notesSlides/notesSlide9.xml" Id="R78e5a474085a40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ff539b5b4433c" /><Relationship Type="http://schemas.openxmlformats.org/officeDocument/2006/relationships/chart" Target="/ppt/slides/charts/chart1.xml" Id="R044a4fa3f78346d8" /><Relationship Type="http://schemas.openxmlformats.org/officeDocument/2006/relationships/notesSlide" Target="/ppt/notesSlides/notesSlide10.xml" Id="R8cb95b627c964b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ff354e56c496b" /><Relationship Type="http://schemas.openxmlformats.org/officeDocument/2006/relationships/chart" Target="/ppt/slides/charts/chart2.xml" Id="R35f6d04aa378420a" /><Relationship Type="http://schemas.openxmlformats.org/officeDocument/2006/relationships/image" Target="/ppt/media/image3.png" Id="R153953d7d95c4bb5" /><Relationship Type="http://schemas.openxmlformats.org/officeDocument/2006/relationships/notesSlide" Target="/ppt/notesSlides/notesSlide11.xml" Id="Rd7ea19285f8a4d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637ec640947b2" /><Relationship Type="http://schemas.openxmlformats.org/officeDocument/2006/relationships/chart" Target="/ppt/slides/charts/chart3.xml" Id="R44bebe92273d4a7c" /><Relationship Type="http://schemas.openxmlformats.org/officeDocument/2006/relationships/notesSlide" Target="/ppt/notesSlides/notesSlide12.xml" Id="R060a480de0034f7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50fce8e11402a" /><Relationship Type="http://schemas.openxmlformats.org/officeDocument/2006/relationships/notesSlide" Target="/ppt/notesSlides/notesSlide13.xml" Id="R9647fa10c2af41d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368657c1c46a8" /><Relationship Type="http://schemas.openxmlformats.org/officeDocument/2006/relationships/notesSlide" Target="/ppt/notesSlides/notesSlide14.xml" Id="R22921edaff4840d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b9a477fb647b9" /><Relationship Type="http://schemas.openxmlformats.org/officeDocument/2006/relationships/notesSlide" Target="/ppt/notesSlides/notesSlide15.xml" Id="R020811dd93f145de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Text edit distance</c:v>
          </c:tx>
          <c:spPr>
            <a:solidFill xmlns:a="http://schemas.openxmlformats.org/drawingml/2006/main">
              <a:srgbClr val="2563EB"/>
            </a:solidFill>
          </c:spPr>
          <c:dPt>
            <c:idx val="0"/>
            <c:spPr>
              <a:solidFill xmlns:a="http://schemas.openxmlformats.org/drawingml/2006/main">
                <a:srgbClr val="94A3B8"/>
              </a:solidFill>
            </c:spPr>
          </c:dPt>
          <c:dPt>
            <c:idx val="1"/>
            <c:spPr>
              <a:solidFill xmlns:a="http://schemas.openxmlformats.org/drawingml/2006/main">
                <a:srgbClr val="10B981"/>
              </a:solidFill>
            </c:spPr>
          </c:dPt>
          <c:dPt>
            <c:idx val="2"/>
            <c:spPr>
              <a:solidFill xmlns:a="http://schemas.openxmlformats.org/drawingml/2006/main">
                <a:srgbClr val="2563EB"/>
              </a:solidFill>
            </c:spPr>
          </c:dPt>
          <c:dPt>
            <c:idx val="3"/>
            <c:spPr>
              <a:solidFill xmlns:a="http://schemas.openxmlformats.org/drawingml/2006/main">
                <a:srgbClr val="F97316"/>
              </a:solidFill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NTP</c:v>
              </c:pt>
              <c:pt idx="1">
                <c:v>PTP-0</c:v>
              </c:pt>
              <c:pt idx="2">
                <c:v>PTP-1</c:v>
              </c:pt>
              <c:pt idx="3">
                <c:v>PTP-2</c:v>
              </c:pt>
            </c:strLit>
          </c:cat>
          <c:val>
            <c:numLit>
              <c:formatCode>0.000</c:formatCode>
              <c:ptCount val="4"/>
              <c:pt idx="0">
                <c:v>0.0585</c:v>
              </c:pt>
              <c:pt idx="1">
                <c:v>0.0513</c:v>
              </c:pt>
              <c:pt idx="2">
                <c:v>0.0431</c:v>
              </c:pt>
              <c:pt idx="3">
                <c:v>0.0589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827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0.07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lower is better</a:t>
                </a:r>
              </a:p>
            </c:rich>
          </c:tx>
          <c:overlay val="0"/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B5563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Speedup</c:v>
          </c:tx>
          <c:spPr>
            <a:solidFill xmlns:a="http://schemas.openxmlformats.org/drawingml/2006/main">
              <a:srgbClr val="F97316"/>
            </a:solidFill>
          </c:spPr>
          <c:dPt>
            <c:idx val="0"/>
            <c:spPr>
              <a:solidFill xmlns:a="http://schemas.openxmlformats.org/drawingml/2006/main">
                <a:srgbClr val="94A3B8"/>
              </a:solidFill>
            </c:spPr>
          </c:dPt>
          <c:dPt>
            <c:idx val="1"/>
            <c:spPr>
              <a:solidFill xmlns:a="http://schemas.openxmlformats.org/drawingml/2006/main">
                <a:srgbClr val="2563EB"/>
              </a:solidFill>
            </c:spPr>
          </c:dPt>
          <c:dPt>
            <c:idx val="2"/>
            <c:spPr>
              <a:solidFill xmlns:a="http://schemas.openxmlformats.org/drawingml/2006/main">
                <a:srgbClr val="F97316"/>
              </a:solidFill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NTP</c:v>
              </c:pt>
              <c:pt idx="1">
                <c:v>PTP-1</c:v>
              </c:pt>
              <c:pt idx="2">
                <c:v>PTP-2</c:v>
              </c:pt>
            </c:strLit>
          </c:cat>
          <c:val>
            <c:numLit>
              <c:formatCode>0.0</c:formatCode>
              <c:ptCount val="3"/>
              <c:pt idx="0">
                <c:v>1</c:v>
              </c:pt>
              <c:pt idx="1">
                <c:v>1.6</c:v>
              </c:pt>
              <c:pt idx="2">
                <c:v>2.2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827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2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relative speedup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B5563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CDM</c:v>
          </c:tx>
          <c:spPr>
            <a:solidFill xmlns:a="http://schemas.openxmlformats.org/drawingml/2006/main">
              <a:srgbClr val="10B981"/>
            </a:solidFill>
          </c:spPr>
          <c:dPt>
            <c:idx val="0"/>
            <c:spPr>
              <a:solidFill xmlns:a="http://schemas.openxmlformats.org/drawingml/2006/main">
                <a:srgbClr val="94A3B8"/>
              </a:solidFill>
            </c:spPr>
          </c:dPt>
          <c:dPt>
            <c:idx val="2"/>
            <c:spPr>
              <a:solidFill xmlns:a="http://schemas.openxmlformats.org/drawingml/2006/main">
                <a:srgbClr val="2563EB"/>
              </a:solidFill>
            </c:spPr>
          </c:dPt>
          <c:dPt>
            <c:idx val="3"/>
            <c:spPr>
              <a:solidFill xmlns:a="http://schemas.openxmlformats.org/drawingml/2006/main">
                <a:srgbClr val="10B981"/>
              </a:solidFill>
            </c:spPr>
          </c:dPt>
          <c:dPt>
            <c:idx val="4"/>
            <c:spPr>
              <a:solidFill xmlns:a="http://schemas.openxmlformats.org/drawingml/2006/main">
                <a:srgbClr val="F97316"/>
              </a:solidFill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Base</c:v>
              </c:pt>
              <c:pt idx="1">
                <c:v>NTP</c:v>
              </c:pt>
              <c:pt idx="2">
                <c:v>PTP-0</c:v>
              </c:pt>
              <c:pt idx="3">
                <c:v>PTP-1</c:v>
              </c:pt>
              <c:pt idx="4">
                <c:v>PTP-2</c:v>
              </c:pt>
            </c:strLit>
          </c:cat>
          <c:val>
            <c:numLit>
              <c:formatCode>General</c:formatCode>
              <c:ptCount val="5"/>
              <c:pt idx="0">
                <c:v>24.11</c:v>
              </c:pt>
              <c:pt idx="1">
                <c:v>71.65</c:v>
              </c:pt>
              <c:pt idx="2">
                <c:v>91.59</c:v>
              </c:pt>
              <c:pt idx="3">
                <c:v>89.63</c:v>
              </c:pt>
              <c:pt idx="4">
                <c:v>77.23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827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CDM higher is better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B5563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1C9A2E-2F43-457F-AB12-3685870D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6D848-7354-4E5F-98FD-0639A12F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05BA1-AC1A-4F0E-BE4D-E7439760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095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836F1-DD34-4964-8D21-BA1FF29C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PAPER STUDY - DOCUMENT PARSING / VLM DECODING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DBC91-E366-4915-A69F-737AC1B9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Efficient Document Parsing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via Parallel Token Prediction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687B3-DF91-403E-819F-8338CA3F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Lei Li et al. - arXiv:2603.15206 - CVPR 2026 Findings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706C8-9C8A-4F78-B833-DCA15416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104900"/>
            <a:ext cx="2857500" cy="3619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61CD7-50A8-474D-86F7-4F223C81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8E2C6-0772-448B-A96E-4C90020D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2266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8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rPr>
              <a:t>문서 파싱 VLM은 왜 정확해졌는데도 느린가?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rPr>
              <a:t>정답이 이미지에 고정된 transcription task라면, 미래 토큰을 병렬로 예측할 수 있지 않을까?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E408D-3CB6-4881-A744-061B3A37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22669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B4A00F-B9BD-4485-82C3-431D1987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Reported speedup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4369B-65C1-45A6-B168-652C099F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9580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rPr>
              <a:t>1.6x-2.2x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DC78F-811B-4375-95EC-898DD9E4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2920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NTP 대비 decoding throughput 개선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594D6-775C-4E00-A541-DD259003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Source: arXiv:2603.15206</a:t>
            </a:r>
          </a:p>
        </p:txBody>
      </p:sp>
    </p:spTree>
    <p:extLst>
      <p:ext uri="{BB962C8B-B14F-4D97-AF65-F5344CB8AC3E}">
        <p14:creationId xmlns:p14="http://schemas.microsoft.com/office/powerpoint/2010/main" val="12493620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8BEB6B-B094-4AB7-B448-E5B49651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8A139-FA9D-4DCC-9E53-E16657CF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이 논문의 주장은 세 가지로 압축된다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24B01-FA3D-4BB5-9A22-AC441D56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Source: arXiv:2603.15206, Efficient Document Parsing via Parallel Token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02600-584A-449F-80A7-293E7429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B1F34-1EF2-4AC8-82BF-4738DE0D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32766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45FA4-5269-4256-8E46-817B0608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1. 병목은 decoder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B2903-C4EC-47C5-8CCA-2D5D3523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29337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문서 파싱 결과는 길고 구조화된 텍스트다. VLM이 좋아져도 next-token autoregressive loop는 output token 수에 비례해 느려진다.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D8104-5FC5-421A-B560-838822A0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81150"/>
            <a:ext cx="32766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D1F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E993A-5103-4C15-A793-A9CE4E70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145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B9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B981"/>
                </a:solidFill>
                <a:latin typeface="Malgun Gothic"/>
                <a:ea typeface="Malgun Gothic"/>
                <a:cs typeface="Malgun Gothic"/>
              </a:rPr>
              <a:t>2. Register가 future token을 맡는다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6F108-B253-4F7D-94F4-395B4BED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57400"/>
            <a:ext cx="29337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학습 시 각 regular token 뒤에 learnable register tokens를 넣고, 위치 offset에 따라 미래 토큰을 예측하도록 훈련한다.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DF83AF-0E8B-41BD-8E45-2968AA93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81150"/>
            <a:ext cx="32766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FFEDD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41EBB-926F-46A6-B17C-CD7FFF9B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145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rPr>
              <a:t>3. PTP-1이 실전 균형점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F0F0A-2040-40CA-8642-480E8C96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57400"/>
            <a:ext cx="29337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PTP-1은 OmniDocBench text edit distance를 0.0431까지 낮추며 1.6x speedup을 보고한다. PTP-2는 빠르지만 정확도 손실이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EB429F-DE73-484B-873F-D7113C29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958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0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발표 관점: PTP를 '새 OCR 모델'이 아니라 'VLM document parser에 꽂는 decoding framework'로 읽는 것이 정확하다.</a:t>
            </a:r>
          </a:p>
        </p:txBody>
      </p:sp>
    </p:spTree>
    <p:extLst>
      <p:ext uri="{BB962C8B-B14F-4D97-AF65-F5344CB8AC3E}">
        <p14:creationId xmlns:p14="http://schemas.microsoft.com/office/powerpoint/2010/main" val="9860435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D152AB-7F0D-4532-B5B9-C23F2048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CAB8E-3A45-4A3E-9C6E-D2246EAE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문서 파싱에서 AR decoding은 왜 치명적인가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88D3E-CCFD-4DC1-B818-1DC09AB6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Source: arXiv:2603.15206, Efficient Document Parsing via Parallel Token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8E6EB-47C5-41F2-9B26-BFBF652E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7728C-EBFC-4FC2-9431-3F88A6DE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4602E-76AC-47BD-ACB6-BDB49729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574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Document image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2F9FD-60A6-4A5E-8C67-A0A926D7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0300"/>
            <a:ext cx="2514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고해상도 PDF page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layout + text + formula + table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03841-B122-4156-9FE4-DF5B7A56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3840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23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F9DAB-3C7C-4A50-AEE8-11EAC6F0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2405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D1F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735626-33CF-41C7-A248-8D081591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574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VLM parser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5C30E-DA78-4F26-ACD3-B2950835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00300"/>
            <a:ext cx="2514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vision encoder + LLM decoder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end-to-end/hybrid parser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C7C3A-5914-4D07-A957-230BD295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3840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23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36667-C026-4651-B9AF-B552327D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2405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FFEDD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9FDA18-5A26-4A29-B18F-FB584828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574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Structured 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9A97B-FB35-442A-9675-C4117E85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2514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Markdown/LaTeX/table text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길고 dense한 token sequence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33BCF-9CA4-40EB-B363-3DDD96CB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71950"/>
            <a:ext cx="9753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18B234-B0B8-4900-AF58-5A23EFEF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62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NTP latency intuition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079F02-DC46-46DF-983C-F6B823D5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05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79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T_decode ≈ output_length × per_step_latency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9BBB09-97A0-4E6B-94C1-517D210C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148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6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문서가 복잡할수록 output token이 길어지고, decoder loop가 serving latency와 throughput을 직접 지배한다.</a:t>
            </a:r>
          </a:p>
        </p:txBody>
      </p:sp>
    </p:spTree>
    <p:extLst>
      <p:ext uri="{BB962C8B-B14F-4D97-AF65-F5344CB8AC3E}">
        <p14:creationId xmlns:p14="http://schemas.microsoft.com/office/powerpoint/2010/main" val="14477627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D10B65-66CC-4F45-A398-02B68535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RELATED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CE55C-5727-4B7E-BCD8-195F04FC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기존 가속 방법 대비 PTP의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38789-7DB0-4700-ACCB-7826B350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Source: arXiv:2603.15206, Efficient Document Parsing via Parallel Token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E548A-26AE-4AF1-A7AF-A54FE5BC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1257300"/>
          <a:ext xmlns:a="http://schemas.openxmlformats.org/drawingml/2006/main" cx="10858500" cy="40386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4000500"/>
                <a:gridCol w="4476750"/>
              </a:tblGrid>
              <a:tr h="673100">
                <a:tc>
                  <a:txBody>
                    <a:bodyPr lIns="76200" tIns="76200" rIns="76200" bIns="76200" anchor="ctr"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</a:t>
                      </a:r>
                    </a:p>
                  </a:txBody>
                  <a:tcPr marL="91440" marR="91440" marT="45720" marB="45720">
                    <a:solidFill>
                      <a:srgbClr val="334155"/>
                    </a:solidFill>
                  </a:tcPr>
                </a:tc>
                <a:tc>
                  <a:txBody>
                    <a:bodyPr lIns="76200" tIns="76200" rIns="76200" bIns="76200" anchor="ctr"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병목 / 아이디어</a:t>
                      </a:r>
                    </a:p>
                  </a:txBody>
                  <a:tcPr marL="91440" marR="91440" marT="45720" marB="45720">
                    <a:solidFill>
                      <a:srgbClr val="334155"/>
                    </a:solidFill>
                  </a:tcPr>
                </a:tc>
                <a:tc>
                  <a:txBody>
                    <a:bodyPr lIns="76200" tIns="76200" rIns="76200" bIns="76200" anchor="ctr"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PTP와의 차이</a:t>
                      </a:r>
                    </a:p>
                  </a:txBody>
                  <a:tcPr marL="91440" marR="91440" marT="45720" marB="45720">
                    <a:solidFill>
                      <a:srgbClr val="334155"/>
                    </a:solidFill>
                  </a:tcPr>
                </a:tc>
              </a:tr>
              <a:tr h="673100">
                <a:tc>
                  <a:txBody>
                    <a:bodyPr lIns="76200" tIns="76200" rIns="76200" bIns="76200" anchor="ctr"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65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MTP / NAR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 lIns="76200" tIns="76200" rIns="76200" bIns="76200" anchor="ctr"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65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미래 토큰 동시 예측</a:t>
                      </a:r>
                    </a:p>
                  </a:txBody>
                  <a:tcPr marL="91440" marR="91440" marT="45720" marB="45720"/>
                </a:tc>
                <a:tc>
                  <a:txBody>
                    <a:bodyPr lIns="76200" tIns="76200" rIns="76200" bIns="76200" anchor="ctr"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65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register만 추가</a:t>
                      </a:r>
                    </a:p>
                  </a:txBody>
                  <a:tcPr marL="91440" marR="91440" marT="45720" marB="45720"/>
                </a:tc>
              </a:tr>
              <a:tr h="673100">
                <a:tc>
                  <a:txBody>
                    <a:bodyPr lIns="76200" tIns="76200" rIns="76200" bIns="76200" anchor="ctr"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65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Seq. compression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 lIns="76200" tIns="76200" rIns="76200" bIns="76200" anchor="ctr"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65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 길이 축소</a:t>
                      </a:r>
                    </a:p>
                  </a:txBody>
                  <a:tcPr marL="91440" marR="91440" marT="45720" marB="45720"/>
                </a:tc>
                <a:tc>
                  <a:txBody>
                    <a:bodyPr lIns="76200" tIns="76200" rIns="76200" bIns="76200" anchor="ctr"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65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PTP와 병행 가능</a:t>
                      </a:r>
                    </a:p>
                  </a:txBody>
                  <a:tcPr marL="91440" marR="91440" marT="45720" marB="45720"/>
                </a:tc>
              </a:tr>
              <a:tr h="673100">
                <a:tc>
                  <a:txBody>
                    <a:bodyPr lIns="76200" tIns="76200" rIns="76200" bIns="76200" anchor="ctr"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65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Visual reduction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 lIns="76200" tIns="76200" rIns="76200" bIns="76200" anchor="ctr"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65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input/prefill 축소</a:t>
                      </a:r>
                    </a:p>
                  </a:txBody>
                  <a:tcPr marL="91440" marR="91440" marT="45720" marB="45720"/>
                </a:tc>
                <a:tc>
                  <a:txBody>
                    <a:bodyPr lIns="76200" tIns="76200" rIns="76200" bIns="76200" anchor="ctr"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65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decode는 별도</a:t>
                      </a:r>
                    </a:p>
                  </a:txBody>
                  <a:tcPr marL="91440" marR="91440" marT="45720" marB="45720"/>
                </a:tc>
              </a:tr>
              <a:tr h="673100">
                <a:tc>
                  <a:txBody>
                    <a:bodyPr lIns="76200" tIns="76200" rIns="76200" bIns="76200" anchor="ctr"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65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Pruning / serving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 lIns="76200" tIns="76200" rIns="76200" bIns="76200" anchor="ctr"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65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런타임 비용 감소</a:t>
                      </a:r>
                    </a:p>
                  </a:txBody>
                  <a:tcPr marL="91440" marR="91440" marT="45720" marB="45720"/>
                </a:tc>
                <a:tc>
                  <a:txBody>
                    <a:bodyPr lIns="76200" tIns="76200" rIns="76200" bIns="76200" anchor="ctr"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65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결합 가능</a:t>
                      </a:r>
                    </a:p>
                  </a:txBody>
                  <a:tcPr marL="91440" marR="91440" marT="45720" marB="45720"/>
                </a:tc>
              </a:tr>
              <a:tr h="673100">
                <a:tc>
                  <a:txBody>
                    <a:bodyPr lIns="76200" tIns="76200" rIns="76200" bIns="76200" anchor="ctr"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65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Spec. decoding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 lIns="76200" tIns="76200" rIns="76200" bIns="76200" anchor="ctr"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65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draft 검증으로 skip</a:t>
                      </a:r>
                    </a:p>
                  </a:txBody>
                  <a:tcPr marL="91440" marR="91440" marT="45720" marB="45720"/>
                </a:tc>
                <a:tc>
                  <a:txBody>
                    <a:bodyPr lIns="76200" tIns="76200" rIns="76200" bIns="76200" anchor="ctr">
                      <a:normAutofit/>
                    </a:bodyPr>
                    <a:lstStyle/>
                    <a:p>
                      <a:pPr algn="ctr">
                        <a:lnSpc>
                          <a:spcPct val="105000"/>
                        </a:lnSpc>
                        <a:buNone/>
                      </a:pPr>
                      <a:r>
                        <a:rPr sz="1650" b="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PTP draft로 사용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67B5E-607E-4FC3-82E3-D01A4B9A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28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PTP의 selling point: 모델 아키텍처를 크게 바꾸지 않고, document parsing의 '정답 고정성'을 학습 objective에 넣는다.</a:t>
            </a:r>
          </a:p>
        </p:txBody>
      </p:sp>
    </p:spTree>
    <p:extLst>
      <p:ext uri="{BB962C8B-B14F-4D97-AF65-F5344CB8AC3E}">
        <p14:creationId xmlns:p14="http://schemas.microsoft.com/office/powerpoint/2010/main" val="4464534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1C3FDF-1EE8-4F59-A9FA-BAA504D5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DATASET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CE8BB-3A0A-44BD-B375-BB4F7B8B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성능의 절반은 PTP가 아니라 데이터 엔진에서 나온다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DC3AC-9A82-42C6-9CE3-705A0CFB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Source: arXiv:2603.15206, Efficient Document Parsing via Parallel Token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80A3D-6CF2-4197-AA6C-BABC51FC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6f92f79c4c4e09"/>
          <a:stretch xmlns:a="http://schemas.openxmlformats.org/drawingml/2006/main"/>
        </p:blipFill>
        <p:spPr>
          <a:xfrm xmlns:a="http://schemas.openxmlformats.org/drawingml/2006/main">
            <a:off x="4648200" y="1316240"/>
            <a:ext cx="6629400" cy="2892020"/>
          </a:xfrm>
          <a:prstGeom xmlns:a="http://schemas.openxmlformats.org/drawingml/2006/main" prst="roundRect">
            <a:avLst>
              <a:gd name="adj" fmla="val 197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D46D9-43DE-4DC6-925F-A8DC5221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41785-E09C-4EB5-9D57-7B3AAD8D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Resource pool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1A43B-F0E5-4594-8519-FC4AC495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288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200k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A980F-1068-4A0F-B202-8D36643A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4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open-source + in-house + synthetic pages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8F995-35B8-47A7-A841-0971B50A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42875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D65AC3-116E-4591-B935-E79B6506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56210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Final samples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5534D-C2E9-4901-940D-55A51967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288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10B98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B981"/>
                </a:solidFill>
                <a:latin typeface="Malgun Gothic"/>
                <a:ea typeface="Malgun Gothic"/>
                <a:cs typeface="Malgun Gothic"/>
              </a:rPr>
              <a:t>1.8M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1600E-98E9-4BEF-A609-D7C494B7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6220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layout-level high-quality samples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90032-0BBC-4084-A257-5AD3C0B0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34290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73BD4D-9762-45B1-B9E8-B7EF20E3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Annotation 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CA3E2A-7438-48C2-9F6C-4CD09615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3086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layout detection -&gt; Qwen2.5-VL-72B / MonkeyOCR-Pro-3B -&gt; Gemini-2.5-Pro refinement -&gt; LLM/rule/manual verification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20455A-9B9A-41CB-A1C0-2C6263CE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3429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17A5F0-5A4F-4072-A751-9BF9D513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Quality filters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925183-72D3-4CA0-A453-9E31D98C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3086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6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corrupted/aspect-ratio filtering, confidence filtering, CLIP embedding dedup, pHash pixel-level dedup, augmentation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272531-2E8A-4FD6-A250-4ECE9228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781550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EF444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EF4444"/>
                </a:solidFill>
                <a:latin typeface="Malgun Gothic"/>
                <a:ea typeface="Malgun Gothic"/>
                <a:cs typeface="Malgun Gothic"/>
              </a:rPr>
              <a:t>주의: NTP baseline도 이 데이터로 fine-tune된다. 따라서 결과 해석은 'dataset gain'과 'PTP objective gain'을 분리해 봐야 한다.</a:t>
            </a:r>
          </a:p>
        </p:txBody>
      </p:sp>
    </p:spTree>
    <p:extLst>
      <p:ext uri="{BB962C8B-B14F-4D97-AF65-F5344CB8AC3E}">
        <p14:creationId xmlns:p14="http://schemas.microsoft.com/office/powerpoint/2010/main" val="17314883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CF940F-BA43-4414-BAD6-CF820509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CE4FB-732F-4C4B-84E9-A36E9DA3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PTP: regular token 뒤에 미래 예측 register를 삽입한다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789CC-BFA7-4B87-83FC-9D079FE9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Source: arXiv:2603.15206, Efficient Document Parsing via Parallel Token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86E55-4D7A-4B00-ADDF-05BF2AF7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8CB4D-F866-48C1-9761-C1590226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257300"/>
            <a:ext cx="708660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cd9e3727e04d8b"/>
          <a:stretch xmlns:a="http://schemas.openxmlformats.org/drawingml/2006/main"/>
        </p:blipFill>
        <p:spPr>
          <a:xfrm xmlns:a="http://schemas.openxmlformats.org/drawingml/2006/main">
            <a:off x="4591050" y="1466850"/>
            <a:ext cx="6248400" cy="3124200"/>
          </a:xfrm>
          <a:prstGeom xmlns:a="http://schemas.openxmlformats.org/drawingml/2006/main" prst="roundRect">
            <a:avLst>
              <a:gd name="adj" fmla="val 182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A0287-F570-419F-A1BF-8320048F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28765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B2123-AA69-45ED-863D-27554D93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NTP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2013C-2536-4C21-9192-D40352A5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2533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x_i까지 보고 x_{i+1} 하나만 예측한다.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정확하지만 output length만큼 반복된다.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BE478-30B1-4A06-AFDF-E5DB9E8B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2876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D1F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56F3F5-2EF2-4C95-94B9-B72F98A0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PTP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12692-5342-44D4-BB83-D139E6AD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2533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x_i 뒤에 r_1, r_2, ... register를 넣고 각 register가 x_{i+2}, x_{i+3}, ...를 예측한다.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D203A-0F1C-4E7E-A268-C3A70991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124450"/>
            <a:ext cx="708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문서 파싱의 key assumption: 출력은 open-ended reasoning보다 visual evidence에 더 강하게 결정된다.</a:t>
            </a:r>
          </a:p>
        </p:txBody>
      </p:sp>
    </p:spTree>
    <p:extLst>
      <p:ext uri="{BB962C8B-B14F-4D97-AF65-F5344CB8AC3E}">
        <p14:creationId xmlns:p14="http://schemas.microsoft.com/office/powerpoint/2010/main" val="11124317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855F07-74B3-4628-A126-11FC1087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69EBE-3B86-47FD-803C-C07E3DB9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학습 목표: NTP loss와 register future-token loss를 결합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68235-F5D5-42C3-BA97-9F255EAC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Source: arXiv:2603.15206, Efficient Document Parsing via Parallel Token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AFF3A-B3DC-4884-997C-265A60E1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74FF5-F046-447C-AC1E-2E0C5C77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48577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2AFE1-658D-489F-8DB7-9E731D9D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38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Token insertion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93DD6-DAA9-4369-8D48-CE8377EC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38350"/>
            <a:ext cx="419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X_a = (x1, x2, ..., xl)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X_hat_a = (x1, [r2, r3], x2, [r3, r4], ...)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5C1DA-738D-44BE-BA4C-A1D8DCCA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Loss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DC18C-998F-416E-A030-94437907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8615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L_reg = E[- sum_i sum_j log P(x_{i+j+1} | X_{&lt;=i}, r_{i+j})]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L_PTP = alpha L_NTP + (1-alpha) L_reg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61617-6CE9-41F7-9C2B-6FD6BA22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390650"/>
            <a:ext cx="46863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D14C8D-15B5-4F21-AE94-A9E7F28A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Regular tokens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EB8D86-4987-4CDD-9ADD-4A84966C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434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648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이전 regular token만 attend. register와 격리되어 NTP 경로 보존.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34FD69-EDD2-44DE-8CD2-359E03FC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46863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63A240-EF61-4EEE-B386-05904DB5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Same-group registers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F4DFE-27DA-4517-8323-74B2F515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434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648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같은 regular token 뒤 register끼리는 순서대로 attend 가능.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D2B214-CE4D-4868-92F9-00932473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33750"/>
            <a:ext cx="46863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C67B6F-CC35-448D-B4AA-FBA61332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Different groups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849A83-6523-48BF-B1E1-C79FE096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434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648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서로 다른 register group은 isolated. future leakage 방지.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DC6091-DE16-4F58-BA9D-4CDA9C4C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05300"/>
            <a:ext cx="46863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07D68F-78C0-48F7-BBA5-EFB9C2FE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Position IDs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B0C6E3-3404-4820-962F-BBBA09B7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81550"/>
            <a:ext cx="434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648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register 위치 offset이 future-token target과 맞도록 조정.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28F984-BDD7-45DF-B6EA-CB3D6672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657850"/>
            <a:ext cx="937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핵심은 regular path를 망가뜨리지 않으면서, register path에는 future prediction pressure를 주는 것이다.</a:t>
            </a:r>
          </a:p>
        </p:txBody>
      </p:sp>
    </p:spTree>
    <p:extLst>
      <p:ext uri="{BB962C8B-B14F-4D97-AF65-F5344CB8AC3E}">
        <p14:creationId xmlns:p14="http://schemas.microsoft.com/office/powerpoint/2010/main" val="14825599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ACA087-28E2-4961-A78A-847795AD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77A88-7373-4546-A228-86FEC329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추론: n개의 register로 n+1 토큰을 한 step에 얻는다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3FB3E-906A-4857-9603-760FC1F0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Source: arXiv:2603.15206, Efficient Document Parsing via Parallel Token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EB7B4-938F-4337-9809-3BD535AB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05B2C-9DC0-4837-8546-08BEEE35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9E425-8B63-437D-B307-1E14A5B8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15CC8-1EB1-4569-B042-23EFDB11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0970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0C1F6-EE7B-4FA9-8EE7-049352FF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0020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63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현재 prefix 뒤에 n개 register token append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DF6CC-340C-4988-8200-E23C623E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145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16B74-5C51-4ECB-8EBB-F091B599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19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9C2F1-2225-4881-AA07-BDF86B95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95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5DF08-8600-4AF7-9064-D1F1B821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0970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EAC54-D3A5-49E5-BA74-A4EFAD70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0020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33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63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한 번의 forward로 regular next token + register future tokens 예측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A43117-88AD-4270-B43B-C5C4603C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145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ACAC78-51EA-4A81-95EC-485CAAD8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19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E19A1-2138-4827-97E7-95CAA064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95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447211-AED0-4E05-B970-E53FC840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40970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4FB029-C596-49B7-8427-A4C3C9D0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0020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38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63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register KV cache는 semantic token이 아니므로 제거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D0A103-6D5A-46A1-B3DF-0BD9617C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145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71062A-4F13-4561-B444-F0A4BDA0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19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9AC45D-0137-4974-94A7-056E8CD8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95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A0CA74-728B-4901-8E91-86ABB87D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40970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0CDC4C-D48A-4FE5-B656-2FE89C8C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60020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98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63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다음 step에서 예측 token으로 KV cache를 재생성/대체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E8DB86-38CF-4CA7-A5FA-CD513FDF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99441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CD8D85-9422-490F-9C8A-2ACC4C3A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43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Speedup estimate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B7012C-84B7-456E-8F01-281EF1F9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62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SR ≈ ((1 + n) × L_theta) / L'_theta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202129-40D1-458B-BB69-20B814F4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81350"/>
            <a:ext cx="381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논문은 decode phase가 memory-bound라서 register로 늘어난 추가 compute가 memory access latency 안에 흡수될 수 있다고 설명한다.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E7B7D0-9523-425D-9608-BD43085E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1005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EF444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EF4444"/>
                </a:solidFill>
                <a:latin typeface="Malgun Gothic"/>
                <a:ea typeface="Malgun Gothic"/>
                <a:cs typeface="Malgun Gothic"/>
              </a:rPr>
              <a:t>But: 실제 speedup은 batch/QPS, serving runtime, GPU memory bandwidth, register 수에 의존한다.</a:t>
            </a:r>
          </a:p>
        </p:txBody>
      </p:sp>
    </p:spTree>
    <p:extLst>
      <p:ext uri="{BB962C8B-B14F-4D97-AF65-F5344CB8AC3E}">
        <p14:creationId xmlns:p14="http://schemas.microsoft.com/office/powerpoint/2010/main" val="859052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38C298-F08C-48C9-95D0-79B6A1C1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46351-DE74-4211-B6E9-3EAE39AE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07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실험 세팅: 3B base model + constructed dataset + document benchmarks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BEDC0-9D87-4A1F-AADA-FB62DACD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Source: arXiv:2603.15206, Efficient Document Parsing via Parallel Token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E5503-2CCE-45EE-8869-AD4F0926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F39EB-A5ED-48EE-90EA-F5D901A8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90650"/>
            <a:ext cx="4953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6DD4B-FCF0-42D6-A2F9-C309ADDD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Base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AB5FA-D8F6-438E-90BB-6786E7C8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4610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Qwen2.5-VL-3B-Instruct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vision encoder/aligner freeze, LLM weights update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38583-0BED-4C79-A802-0CABD340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90650"/>
            <a:ext cx="4953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795BF-6A6C-4910-BE5E-D2D9FA31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2400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Training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C490B-7C72-4B7C-85A9-B33B25A6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66900"/>
            <a:ext cx="4610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8 x A100 40GB, 1 epoch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learning rate 2e-5, alpha=0.5, max register n=3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250EA9-9930-4468-9417-C3562DEE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953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626F3-9C10-4D25-B195-6F48843C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Benchmarks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6CE31E-F601-427F-9A30-A3DEA9A0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4610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OmniDocBench, olmOCR-bench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text recognition, formula recognition, document types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65CD3-41A0-4A18-AD1A-BB402297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86100"/>
            <a:ext cx="4953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6198A-41A1-47A7-A18B-3EE4B25E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Efficiency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D2EA47-13FE-4E75-A21E-9E24E6A0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4610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KsanaLLM on H20 GPU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TPOT, latency, ITL, throughput, speedup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F03EB-26E6-43C2-A300-25D7AC7F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81600"/>
            <a:ext cx="9067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A42C5E-0DE4-4A5E-B8D0-44A6B29A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530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rPr>
              <a:t>비교 단위 주의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B90832-CCB7-4E6E-B82D-7B528E4C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1495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4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PTP-0은 PTP objective로 학습했지만 register 없이 추론한 모델이다. PTP-1/2는 추론 시 register 수를 뜻한다.</a:t>
            </a:r>
          </a:p>
        </p:txBody>
      </p:sp>
    </p:spTree>
    <p:extLst>
      <p:ext uri="{BB962C8B-B14F-4D97-AF65-F5344CB8AC3E}">
        <p14:creationId xmlns:p14="http://schemas.microsoft.com/office/powerpoint/2010/main" val="15516492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DCEA37-3610-436F-8195-C823F1FA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8AA91-2AEC-46E6-A1E2-ACBD0600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OmniDocBench: PTP-1이 text edit distance에서 최적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92866-00D3-48C3-8F43-992163E4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Source: arXiv:2603.15206, Efficient Document Parsing via Parallel Token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AC129-1958-4A55-8068-5403CC83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81050" y="1428750"/>
          <a:ext xmlns:a="http://schemas.openxmlformats.org/drawingml/2006/main" cx="54292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4a4fa3f78346d8"/>
          </a:graphicData>
        </a:graphic>
      </p:graphicFrame>
      <p:graphicFrame>
        <p:nvGraphicFramePr>
          <p:cNvPr id="16" name=""/>
          <p:cNvGraphicFramePr/>
          <p:nvPr/>
        </p:nvGraphicFramePr>
        <p:xfrm>
          <a:off xmlns:a="http://schemas.openxmlformats.org/drawingml/2006/main" x="6762750" y="1504950"/>
          <a:ext xmlns:a="http://schemas.openxmlformats.org/drawingml/2006/main" cx="4476750" cy="24193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76400"/>
                <a:gridCol w="1219200"/>
                <a:gridCol w="1581150"/>
              </a:tblGrid>
              <a:tr h="48387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Overall text edit distance</a:t>
                      </a:r>
                    </a:p>
                  </a:txBody>
                  <a:tcPr marL="91440" marR="91440" marT="45720" marB="45720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334155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Qwen2.5-VL-3B-NTP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0.0585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fine-tuned NTP baseline</a:t>
                      </a:r>
                    </a:p>
                  </a:txBody>
                  <a:tcPr marL="91440" marR="91440" marT="45720" marB="45720"/>
                </a:tc>
              </a:tr>
              <a:tr h="48387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Qwen2.5-VL-3B-PTP-0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0.0513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PTP objective alone helps</a:t>
                      </a:r>
                    </a:p>
                  </a:txBody>
                  <a:tcPr marL="91440" marR="91440" marT="45720" marB="45720"/>
                </a:tc>
              </a:tr>
              <a:tr h="48387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Qwen2.5-VL-3B-PTP-1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0.0431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best accuracy + 1.6x speedup</a:t>
                      </a:r>
                    </a:p>
                  </a:txBody>
                  <a:tcPr marL="91440" marR="91440" marT="45720" marB="45720"/>
                </a:tc>
              </a:tr>
              <a:tr h="48387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Qwen2.5-VL-3B-PTP-2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0.0589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speed improves but accuracy degrades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A0F11-006E-4E22-AABB-E3A9B8E5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67200"/>
            <a:ext cx="4476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853FC-A736-44E5-8C4A-F711E045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00550"/>
            <a:ext cx="413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olmOCR-bench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6B0DC-34FC-4E18-AADE-731E0226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43450"/>
            <a:ext cx="4133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29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38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PTP-0 overall 71.0, PTP-1 overall 70.6. Strong for a 3B model, but still below MinerU2.5 75.2 and dots.ocr 73.6 in reported overall score.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389F3-8E35-43E7-A7E8-2EDD0682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76900"/>
            <a:ext cx="998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5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해석: 논문은 SOTA 전체 1위 주장보다, 'small VLM parser의 decode acceleration과 accuracy preservation' 쪽이 더 탄탄하다.</a:t>
            </a:r>
          </a:p>
        </p:txBody>
      </p:sp>
    </p:spTree>
    <p:extLst>
      <p:ext uri="{BB962C8B-B14F-4D97-AF65-F5344CB8AC3E}">
        <p14:creationId xmlns:p14="http://schemas.microsoft.com/office/powerpoint/2010/main" val="2848654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9F55AB-42AD-45B7-8DC8-A58C0991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45E58-7BA9-4A64-9365-83167314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Throughput: PTP-1 1.6x, PTP-2 2.2x speedup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7A0EB-C44E-4751-A9C8-03522C2C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Source: arXiv:2603.15206, Efficient Document Parsing via Parallel Token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8BD60-9039-4DBA-A890-EFFAF41B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838200" y="1485900"/>
          <a:ext xmlns:a="http://schemas.openxmlformats.org/drawingml/2006/main" cx="46672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f6d04aa378420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E39B5-36E8-415B-B2C2-4E68442E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71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1.0x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71768-F83D-4F80-85D2-26445BE9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193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1.6x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D9F1E-D89F-4114-B2C9-F2039BDA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66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rPr>
              <a:t>2.2x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3953d7d95c4bb5"/>
          <a:stretch xmlns:a="http://schemas.openxmlformats.org/drawingml/2006/main"/>
        </p:blipFill>
        <p:spPr>
          <a:xfrm xmlns:a="http://schemas.openxmlformats.org/drawingml/2006/main">
            <a:off x="5981700" y="1504723"/>
            <a:ext cx="5219700" cy="1429204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79955-B421-4D5F-8629-CDC513A0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33750"/>
            <a:ext cx="5219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8A62A3-FCF0-4D10-A67D-79225D80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67100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Measured setting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51420F-5973-4151-B7CD-7963C2ED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10000"/>
            <a:ext cx="487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26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38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Figure 3 reports TPOT, latency, ITL, and throughput on OmniDocBench 16,886 images using an H20 GPU with KsanaLLM integration.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F5430-F142-488A-A8FD-E13F6C02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72000"/>
            <a:ext cx="5219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686BC-072F-44BC-A978-458030A6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05350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EF444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EF4444"/>
                </a:solidFill>
                <a:latin typeface="Malgun Gothic"/>
                <a:ea typeface="Malgun Gothic"/>
                <a:cs typeface="Malgun Gothic"/>
              </a:rPr>
              <a:t>Caution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75A236-28AC-4A22-AF79-A5FCC620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48250"/>
            <a:ext cx="487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68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38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Theoretical n-fold acceleration is softened by L'_theta, cache replacement, batching, and memory bandwidth. Reported speedups are empirical under the paper's serving setup.</a:t>
            </a:r>
          </a:p>
        </p:txBody>
      </p:sp>
    </p:spTree>
    <p:extLst>
      <p:ext uri="{BB962C8B-B14F-4D97-AF65-F5344CB8AC3E}">
        <p14:creationId xmlns:p14="http://schemas.microsoft.com/office/powerpoint/2010/main" val="17909177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FAADFD-7420-4391-AD25-8EB97985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44A4A-FCB9-4CAF-83E2-D5B39335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Formula recognition: PTP-0/1은 강하지만 PTP-2는 흔들린다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6D842-95A4-49E8-A3CD-4B407F31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Source: arXiv:2603.15206, Efficient Document Parsing via Parallel Token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6EC7D-B708-4E7C-A3E3-58F610A0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53340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bebe92273d4a7c"/>
          </a:graphicData>
        </a:graphic>
      </p:graphicFrame>
      <p:graphicFrame>
        <p:nvGraphicFramePr>
          <p:cNvPr id="15" name=""/>
          <p:cNvGraphicFramePr/>
          <p:nvPr/>
        </p:nvGraphicFramePr>
        <p:xfrm>
          <a:off xmlns:a="http://schemas.openxmlformats.org/drawingml/2006/main" x="6534150" y="1447800"/>
          <a:ext xmlns:a="http://schemas.openxmlformats.org/drawingml/2006/main" cx="4686300" cy="2571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838200"/>
                <a:gridCol w="838200"/>
                <a:gridCol w="1200150"/>
              </a:tblGrid>
              <a:tr h="42862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CDM</a:t>
                      </a:r>
                    </a:p>
                  </a:txBody>
                  <a:tcPr marL="91440" marR="91440" marT="45720" marB="45720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BLEU</a:t>
                      </a:r>
                    </a:p>
                  </a:txBody>
                  <a:tcPr marL="91440" marR="91440" marT="45720" marB="45720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Norm Edit</a:t>
                      </a:r>
                    </a:p>
                  </a:txBody>
                  <a:tcPr marL="91440" marR="91440" marT="45720" marB="45720">
                    <a:solidFill>
                      <a:srgbClr val="334155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Qwen2.5-VL-3B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24.11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53.59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0.331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NTP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71.65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63.05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0.226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PTP-0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91.59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63.38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0.231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PTP-1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89.63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62.32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0.236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PTP-2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77.23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57.92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0.284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A3DBD-39D1-43D3-9D43-5379DE8B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00550"/>
            <a:ext cx="46863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99F81-73C9-4E37-9082-4C459F72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3390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rPr>
              <a:t>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B64F5-2C52-49FF-9073-E2730FBD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76800"/>
            <a:ext cx="4343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9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38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수식은 LaTeX syntax dependency가 강해서 distant future token 예측이 더 어렵다. PTP-1은 속도/성능 균형이 좋지만, PTP-2는 token horizon 증가에 따른 error propagation이 보인다.</a:t>
            </a:r>
          </a:p>
        </p:txBody>
      </p:sp>
    </p:spTree>
    <p:extLst>
      <p:ext uri="{BB962C8B-B14F-4D97-AF65-F5344CB8AC3E}">
        <p14:creationId xmlns:p14="http://schemas.microsoft.com/office/powerpoint/2010/main" val="16449508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758C7C-2A6E-49E8-B9F6-994CF102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271C9-456A-4C4E-B982-63494037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5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일반화와 ablation: self-verification, cache replacement가 핵심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46891-D6BC-4D48-8809-BE55F587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Source: arXiv:2603.15206, Efficient Document Parsing via Parallel Token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D853E-9D42-44F4-BE4B-9A904FC7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1447800"/>
          <a:ext xmlns:a="http://schemas.openxmlformats.org/drawingml/2006/main" cx="4572000" cy="1809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00250"/>
                <a:gridCol w="1238250"/>
                <a:gridCol w="1333500"/>
              </a:tblGrid>
              <a:tr h="452438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ScienceQA</a:t>
                      </a:r>
                    </a:p>
                  </a:txBody>
                  <a:tcPr marL="91440" marR="91440" marT="45720" marB="45720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 marL="91440" marR="91440" marT="45720" marB="45720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Accept rate</a:t>
                      </a:r>
                    </a:p>
                  </a:txBody>
                  <a:tcPr marL="91440" marR="91440" marT="45720" marB="45720">
                    <a:solidFill>
                      <a:srgbClr val="334155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NTP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92.21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N/A</a:t>
                      </a:r>
                    </a:p>
                  </a:txBody>
                  <a:tcPr marL="91440" marR="91440" marT="45720" marB="45720"/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PTP-1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91.72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100</a:t>
                      </a:r>
                    </a:p>
                  </a:txBody>
                  <a:tcPr marL="91440" marR="91440" marT="45720" marB="45720"/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PTP-1 + speculative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92.21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82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E28BA-3ADE-40E9-A923-209C8593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4572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D4F40-9E6E-400D-B0DF-FF334E1E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22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Beyond OCR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86368-E7AD-4A45-9EAB-43B24AB6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4229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86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1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1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VLU처럼 reasoning이 들어가면 PTP-1은 NTP보다 약간 낮아질 수 있다. 논문은 self-speculative verification으로 NTP accuracy를 회복한다고 보고한다.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5753100" y="1447800"/>
          <a:ext xmlns:a="http://schemas.openxmlformats.org/drawingml/2006/main" cx="5619750" cy="23431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19250"/>
                <a:gridCol w="1028700"/>
                <a:gridCol w="876300"/>
                <a:gridCol w="2095500"/>
              </a:tblGrid>
              <a:tr h="46863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Ablation</a:t>
                      </a:r>
                    </a:p>
                  </a:txBody>
                  <a:tcPr marL="91440" marR="91440" marT="45720" marB="45720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Formula CDM</a:t>
                      </a:r>
                    </a:p>
                  </a:txBody>
                  <a:tcPr marL="91440" marR="91440" marT="45720" marB="45720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Text Edit</a:t>
                      </a:r>
                    </a:p>
                  </a:txBody>
                  <a:tcPr marL="91440" marR="91440" marT="45720" marB="45720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Takeaway</a:t>
                      </a:r>
                    </a:p>
                  </a:txBody>
                  <a:tcPr marL="91440" marR="91440" marT="45720" marB="45720">
                    <a:solidFill>
                      <a:srgbClr val="334155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PTP-1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89.63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0.043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baseline</a:t>
                      </a:r>
                    </a:p>
                  </a:txBody>
                  <a:tcPr marL="91440" marR="91440" marT="45720" marB="45720"/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distinct reg.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89.24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0.052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shared embedding better</a:t>
                      </a:r>
                    </a:p>
                  </a:txBody>
                  <a:tcPr marL="91440" marR="91440" marT="45720" marB="45720"/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interleaved reg.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88.46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0.128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continuous insertion better</a:t>
                      </a:r>
                    </a:p>
                  </a:txBody>
                  <a:tcPr marL="91440" marR="91440" marT="45720" marB="45720"/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w/o KV cache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39.43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0.070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cache replacement essential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9EAAC-E6B7-476C-A2D8-14887D4F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095750"/>
            <a:ext cx="5619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1FE99-16C1-437A-973E-4030B0E9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29100"/>
            <a:ext cx="527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B9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B981"/>
                </a:solidFill>
                <a:latin typeface="Malgun Gothic"/>
                <a:ea typeface="Malgun Gothic"/>
                <a:cs typeface="Malgun Gothic"/>
              </a:rPr>
              <a:t>Mechanistic reading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70B79A-2877-4CBB-A9FF-CBA84952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72000"/>
            <a:ext cx="527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21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38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PTP works when register predictions are treated as draft/intermediate computation, not as durable semantic cache. This explains why KV cache replacement has such a large effect.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97F6AF-A50E-48B5-8A62-46E96419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토론 질문: register가 visual grounding을 늘리는가, 아니면 단순히 denser training signal/regularization인가?</a:t>
            </a:r>
          </a:p>
        </p:txBody>
      </p:sp>
    </p:spTree>
    <p:extLst>
      <p:ext uri="{BB962C8B-B14F-4D97-AF65-F5344CB8AC3E}">
        <p14:creationId xmlns:p14="http://schemas.microsoft.com/office/powerpoint/2010/main" val="5911901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257C0C-6D15-48F6-942F-8ED4E715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CRITIQUE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B3CAE-611B-4BBB-B0F1-70B9D133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연구 관점에서 남는 질문들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03AC9-0DCC-4830-8543-89D2B440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Sources: arXiv:2603.15206; GitHub flow3rdown/PTP-OCR README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FDB063-F5C3-4BA0-84E2-2258463F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FCA15-2E43-4D2D-B9F8-4274AC7E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EE2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39004-BB0D-460D-AEC8-3375FC96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6685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EF444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EF4444"/>
                </a:solidFill>
                <a:latin typeface="Malgun Gothic"/>
                <a:ea typeface="Malgun Gothic"/>
                <a:cs typeface="Malgun Gothic"/>
              </a:rPr>
              <a:t>Reproducibility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03598-4271-4667-A80F-74E7ACAE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610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8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8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GitHub 저장소는 공개되어 있지만 README 기준 코드는 아직 공개 예정 상태다. serving integration까지 재현하려면 추가 공개가 필요하다.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69E7C-5781-4071-B90A-7E65B3FB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3350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FFEDD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B4D10-9A45-4BD1-BC76-138DB7E7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6685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rPr>
              <a:t>Data confounding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8CFAB-A155-41B7-A9F4-A8D3E04F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610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0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8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8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1.8M sample 데이터 엔진과 PTP objective의 기여가 완전히 분리되지는 않는다. NTP baseline도 같은 데이터 이득을 받지만, 데이터 품질은 여전히 핵심 변수다.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27520-3116-4216-8982-942B6D0B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076C3-D11B-4F7D-AA72-A2C9DE98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Serving dependence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2890AA-AB11-46FC-975D-846432AA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4610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8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8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1.6x-2.2x는 H20 GPU, KsanaLLM, batch/QPS 조건에서 측정된 수치다. 다른 runtime에서 L'_theta와 memory-bound 가정은 달라질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F6317A-39E7-48A6-B7CF-939F90B3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6225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D1F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D3FF1A-B65B-4FD5-98F5-6C147767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9560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B9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B981"/>
                </a:solidFill>
                <a:latin typeface="Malgun Gothic"/>
                <a:ea typeface="Malgun Gothic"/>
                <a:cs typeface="Malgun Gothic"/>
              </a:rPr>
              <a:t>Scaling limit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D28CB5-FAC0-413D-B7F1-E8AF9978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4610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8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8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register 수를 늘리면 더 먼 future token을 맞혀야 한다. PTP-2의 text/formula 결과는 speed-accuracy trade-off를 보여준다.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BD79BE-A6BE-49E4-A27E-1C3DF022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477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EEF2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B79583-5B00-4C04-AD87-D1A7173F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1013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Hallucination benchmark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561418-C9B2-4EDA-AFC8-3B577C3A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013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8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8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hallucination 평가는 synthetic perturbation 기반이다. 실제 스캔 noise, layout ambiguity, OCR adversarial cases와는 차이가 있을 수 있다.</a:t>
            </a:r>
          </a:p>
        </p:txBody>
      </p:sp>
    </p:spTree>
    <p:extLst>
      <p:ext uri="{BB962C8B-B14F-4D97-AF65-F5344CB8AC3E}">
        <p14:creationId xmlns:p14="http://schemas.microsoft.com/office/powerpoint/2010/main" val="20437384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302D7A-BFCF-4C30-AF3B-43B033A8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TAKEAWAYS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062C6-ECBC-4E9E-83D0-981F1946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PTP가 보여준 것과 남긴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04C16-96AC-447C-B60A-0B106EF0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Source: arXiv:2603.15206, Efficient Document Parsing via Parallel Token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8713E-3461-45EE-A9E0-1AB6D534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E5DEA-0A9B-4E3B-BAE2-1B5EE186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52550"/>
            <a:ext cx="1045845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9B44B-07B3-46F8-8153-57A9F293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19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9F168-6352-400C-9C13-071E00B5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DA813-9C7F-4AE8-A619-9D0C5796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6002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76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Document parsing은 high-certainty transcription이라 parallel future-token prediction의 inductive bias가 잘 맞는다.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BF613-9451-4D6B-927B-99E6DF8F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66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14AD0-9C48-466F-82F5-396DDD54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0F20D-6759-4C98-A5B6-90933AE6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479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Register token은 architecture change 없이 auxiliary prediction path를 만든다.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DCDDB-1A3F-4F93-B97F-FAACD03C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14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60CB7-4BE3-4CC8-BB7D-1A5EB46F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71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1DFFD8-F950-451A-A466-DE5B795E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8956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Best practical point는 PTP-1: accuracy도 개선되고 speedup도 유의미하다.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E113F7-8C61-4570-A39E-547A6DE7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C03D4-9FC9-40D5-801F-605580C6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C8D953-24B9-4D50-AB6F-AFE1F054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433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PTP-2 이상은 speed만 보고 쓰기 어렵다. token horizon과 cache handling이 병목이다.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D6D579-8C55-4307-B75C-A2263E9B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0"/>
            <a:ext cx="971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2EC20E-2929-411D-BFA1-2B9289C8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7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Discussion prompts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566A92-0BDD-418C-8101-96226FFA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38750"/>
            <a:ext cx="9372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636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1. PTP를 layout parser + recognizer hybrid system에 붙이면 어디가 가장 이득일까?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2. register token acceptance를 token confidence calibration으로 쓸 수 있을까?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3. long-form OCR에서 PTP와 sequence compression은 additive하게 작동할까?</a:t>
            </a:r>
          </a:p>
        </p:txBody>
      </p:sp>
    </p:spTree>
    <p:extLst>
      <p:ext uri="{BB962C8B-B14F-4D97-AF65-F5344CB8AC3E}">
        <p14:creationId xmlns:p14="http://schemas.microsoft.com/office/powerpoint/2010/main" val="12261460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2026-06-17T07:53:52.0240000Z</dcterms:created>
  <dcterms:modified xsi:type="dcterms:W3CDTF">2026-06-17T07:53:52.0240000Z</dcterms:modified>
</coreProperties>
</file>