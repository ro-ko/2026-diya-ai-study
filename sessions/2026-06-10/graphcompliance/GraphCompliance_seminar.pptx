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71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안녕하세요</a:t>
            </a:r>
            <a:r>
              <a:rPr dirty="0"/>
              <a:t>,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소개할</a:t>
            </a:r>
            <a:r>
              <a:rPr dirty="0"/>
              <a:t>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서울대·오사카대·연세대</a:t>
            </a:r>
            <a:r>
              <a:rPr dirty="0"/>
              <a:t>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연구로</a:t>
            </a:r>
            <a:r>
              <a:rPr dirty="0"/>
              <a:t> 2025년 10월 </a:t>
            </a:r>
            <a:r>
              <a:rPr dirty="0" err="1"/>
              <a:t>arXiv에</a:t>
            </a:r>
            <a:r>
              <a:rPr dirty="0"/>
              <a:t> </a:t>
            </a:r>
            <a:r>
              <a:rPr dirty="0" err="1"/>
              <a:t>공개된</a:t>
            </a:r>
            <a:r>
              <a:rPr dirty="0"/>
              <a:t> </a:t>
            </a:r>
            <a:r>
              <a:rPr dirty="0" err="1"/>
              <a:t>GraphCompliance입니다</a:t>
            </a:r>
            <a:r>
              <a:rPr dirty="0"/>
              <a:t>. </a:t>
            </a:r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텍스트와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상황</a:t>
            </a:r>
            <a:r>
              <a:rPr dirty="0"/>
              <a:t> </a:t>
            </a:r>
            <a:r>
              <a:rPr dirty="0" err="1"/>
              <a:t>묘사를</a:t>
            </a:r>
            <a:r>
              <a:rPr dirty="0"/>
              <a:t> 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지식그래프로</a:t>
            </a:r>
            <a:r>
              <a:rPr dirty="0"/>
              <a:t> </a:t>
            </a:r>
            <a:r>
              <a:rPr dirty="0" err="1"/>
              <a:t>변환하고</a:t>
            </a:r>
            <a:r>
              <a:rPr dirty="0"/>
              <a:t> </a:t>
            </a:r>
            <a:r>
              <a:rPr dirty="0" err="1"/>
              <a:t>이를</a:t>
            </a:r>
            <a:r>
              <a:rPr dirty="0"/>
              <a:t> </a:t>
            </a:r>
            <a:r>
              <a:rPr dirty="0" err="1"/>
              <a:t>정렬하여</a:t>
            </a:r>
            <a:r>
              <a:rPr dirty="0"/>
              <a:t>, LLM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준수</a:t>
            </a:r>
            <a:r>
              <a:rPr dirty="0"/>
              <a:t> </a:t>
            </a:r>
            <a:r>
              <a:rPr dirty="0" err="1"/>
              <a:t>판단의</a:t>
            </a:r>
            <a:r>
              <a:rPr dirty="0"/>
              <a:t> </a:t>
            </a:r>
            <a:r>
              <a:rPr dirty="0" err="1"/>
              <a:t>정확도와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가능성을</a:t>
            </a:r>
            <a:r>
              <a:rPr dirty="0"/>
              <a:t> </a:t>
            </a:r>
            <a:r>
              <a:rPr dirty="0" err="1"/>
              <a:t>높인</a:t>
            </a:r>
            <a:r>
              <a:rPr dirty="0"/>
              <a:t> </a:t>
            </a:r>
            <a:r>
              <a:rPr dirty="0" err="1"/>
              <a:t>연구입니다</a:t>
            </a:r>
            <a:r>
              <a:rPr dirty="0"/>
              <a:t>. </a:t>
            </a:r>
            <a:r>
              <a:rPr dirty="0" err="1"/>
              <a:t>GDPR을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300개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벤치마크에서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RAG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7.2%p의 micro-F1 </a:t>
            </a:r>
            <a:r>
              <a:rPr dirty="0" err="1"/>
              <a:t>향상을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발표는</a:t>
            </a:r>
            <a:r>
              <a:rPr dirty="0"/>
              <a:t> </a:t>
            </a:r>
            <a:r>
              <a:rPr dirty="0" err="1"/>
              <a:t>네</a:t>
            </a:r>
            <a:r>
              <a:rPr dirty="0"/>
              <a:t> </a:t>
            </a:r>
            <a:r>
              <a:rPr dirty="0" err="1"/>
              <a:t>부분으로</a:t>
            </a:r>
            <a:r>
              <a:rPr dirty="0"/>
              <a:t> </a:t>
            </a:r>
            <a:r>
              <a:rPr dirty="0" err="1"/>
              <a:t>구성됩니다</a:t>
            </a:r>
            <a:r>
              <a:rPr dirty="0"/>
              <a:t>.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기존</a:t>
            </a:r>
            <a:r>
              <a:rPr dirty="0"/>
              <a:t> LLM·RAG </a:t>
            </a:r>
            <a:r>
              <a:rPr dirty="0" err="1"/>
              <a:t>접근이</a:t>
            </a:r>
            <a:r>
              <a:rPr dirty="0"/>
              <a:t> </a:t>
            </a:r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판단에서</a:t>
            </a:r>
            <a:r>
              <a:rPr dirty="0"/>
              <a:t> </a:t>
            </a:r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실패하는지</a:t>
            </a:r>
            <a:r>
              <a:rPr dirty="0"/>
              <a:t> </a:t>
            </a:r>
            <a:r>
              <a:rPr dirty="0" err="1"/>
              <a:t>구조적으로</a:t>
            </a:r>
            <a:r>
              <a:rPr dirty="0"/>
              <a:t> </a:t>
            </a:r>
            <a:r>
              <a:rPr dirty="0" err="1"/>
              <a:t>살펴보고</a:t>
            </a:r>
            <a:r>
              <a:rPr dirty="0"/>
              <a:t>, </a:t>
            </a:r>
            <a:r>
              <a:rPr dirty="0" err="1"/>
              <a:t>이를</a:t>
            </a:r>
            <a:r>
              <a:rPr dirty="0"/>
              <a:t> </a:t>
            </a:r>
            <a:r>
              <a:rPr dirty="0" err="1"/>
              <a:t>해결하는</a:t>
            </a:r>
            <a:r>
              <a:rPr dirty="0"/>
              <a:t> dual-graph </a:t>
            </a:r>
            <a:r>
              <a:rPr dirty="0" err="1"/>
              <a:t>프레임워크를</a:t>
            </a:r>
            <a:r>
              <a:rPr dirty="0"/>
              <a:t> </a:t>
            </a:r>
            <a:r>
              <a:rPr dirty="0" err="1"/>
              <a:t>모듈별로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 </a:t>
            </a:r>
            <a:r>
              <a:rPr dirty="0" err="1"/>
              <a:t>이후</a:t>
            </a:r>
            <a:r>
              <a:rPr dirty="0"/>
              <a:t> 5개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질문에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, </a:t>
            </a:r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한계와</a:t>
            </a:r>
            <a:r>
              <a:rPr dirty="0"/>
              <a:t> </a:t>
            </a:r>
            <a:r>
              <a:rPr dirty="0" err="1"/>
              <a:t>토의</a:t>
            </a:r>
            <a:r>
              <a:rPr dirty="0"/>
              <a:t> </a:t>
            </a:r>
            <a:r>
              <a:rPr dirty="0" err="1"/>
              <a:t>포인트를</a:t>
            </a:r>
            <a:r>
              <a:rPr dirty="0"/>
              <a:t> </a:t>
            </a:r>
            <a:r>
              <a:rPr dirty="0" err="1"/>
              <a:t>정리하겠습니다</a:t>
            </a:r>
            <a:r>
              <a:rPr dirty="0"/>
              <a:t>. </a:t>
            </a:r>
            <a:r>
              <a:rPr dirty="0" err="1"/>
              <a:t>약</a:t>
            </a:r>
            <a:r>
              <a:rPr dirty="0"/>
              <a:t> 20분 </a:t>
            </a:r>
            <a:r>
              <a:rPr dirty="0" err="1"/>
              <a:t>정도</a:t>
            </a:r>
            <a:r>
              <a:rPr dirty="0"/>
              <a:t> </a:t>
            </a:r>
            <a:r>
              <a:rPr dirty="0" err="1"/>
              <a:t>소요됩니다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준수</a:t>
            </a:r>
            <a:r>
              <a:rPr dirty="0"/>
              <a:t> </a:t>
            </a:r>
            <a:r>
              <a:rPr dirty="0" err="1"/>
              <a:t>자동화에는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능력이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 </a:t>
            </a:r>
            <a:r>
              <a:rPr dirty="0" err="1"/>
              <a:t>비정형</a:t>
            </a:r>
            <a:r>
              <a:rPr dirty="0"/>
              <a:t> </a:t>
            </a:r>
            <a:r>
              <a:rPr dirty="0" err="1"/>
              <a:t>텍스트의</a:t>
            </a:r>
            <a:r>
              <a:rPr dirty="0"/>
              <a:t> </a:t>
            </a:r>
            <a:r>
              <a:rPr dirty="0" err="1"/>
              <a:t>의미를</a:t>
            </a:r>
            <a:r>
              <a:rPr dirty="0"/>
              <a:t> </a:t>
            </a:r>
            <a:r>
              <a:rPr dirty="0" err="1"/>
              <a:t>읽는</a:t>
            </a:r>
            <a:r>
              <a:rPr dirty="0"/>
              <a:t> semantic </a:t>
            </a:r>
            <a:r>
              <a:rPr dirty="0" err="1"/>
              <a:t>understanding과</a:t>
            </a:r>
            <a:r>
              <a:rPr dirty="0"/>
              <a:t>, </a:t>
            </a:r>
            <a:r>
              <a:rPr dirty="0" err="1"/>
              <a:t>조항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참조·예외·적용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따라가는</a:t>
            </a:r>
            <a:r>
              <a:rPr dirty="0"/>
              <a:t> structural </a:t>
            </a:r>
            <a:r>
              <a:rPr dirty="0" err="1"/>
              <a:t>reasoning입니다</a:t>
            </a:r>
            <a:r>
              <a:rPr dirty="0"/>
              <a:t>. </a:t>
            </a:r>
            <a:r>
              <a:rPr dirty="0" err="1"/>
              <a:t>LLM과</a:t>
            </a:r>
            <a:r>
              <a:rPr dirty="0"/>
              <a:t> </a:t>
            </a:r>
            <a:r>
              <a:rPr dirty="0" err="1"/>
              <a:t>RAG는</a:t>
            </a:r>
            <a:r>
              <a:rPr dirty="0"/>
              <a:t> </a:t>
            </a:r>
            <a:r>
              <a:rPr dirty="0" err="1"/>
              <a:t>전자에</a:t>
            </a:r>
            <a:r>
              <a:rPr dirty="0"/>
              <a:t> </a:t>
            </a:r>
            <a:r>
              <a:rPr dirty="0" err="1"/>
              <a:t>강하지만</a:t>
            </a:r>
            <a:r>
              <a:rPr dirty="0"/>
              <a:t> </a:t>
            </a:r>
            <a:r>
              <a:rPr dirty="0" err="1"/>
              <a:t>블랙박스라</a:t>
            </a:r>
            <a:r>
              <a:rPr dirty="0"/>
              <a:t> </a:t>
            </a:r>
            <a:r>
              <a:rPr dirty="0" err="1"/>
              <a:t>후자의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가능성이</a:t>
            </a:r>
            <a:r>
              <a:rPr dirty="0"/>
              <a:t> </a:t>
            </a:r>
            <a:r>
              <a:rPr dirty="0" err="1"/>
              <a:t>부족하고</a:t>
            </a:r>
            <a:r>
              <a:rPr dirty="0"/>
              <a:t>, </a:t>
            </a:r>
            <a:r>
              <a:rPr dirty="0" err="1"/>
              <a:t>그래프는</a:t>
            </a:r>
            <a:r>
              <a:rPr dirty="0"/>
              <a:t> </a:t>
            </a:r>
            <a:r>
              <a:rPr dirty="0" err="1"/>
              <a:t>후자에</a:t>
            </a:r>
            <a:r>
              <a:rPr dirty="0"/>
              <a:t> </a:t>
            </a:r>
            <a:r>
              <a:rPr dirty="0" err="1"/>
              <a:t>강하지만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해석이</a:t>
            </a:r>
            <a:r>
              <a:rPr dirty="0"/>
              <a:t> </a:t>
            </a:r>
            <a:r>
              <a:rPr dirty="0" err="1"/>
              <a:t>약합니다</a:t>
            </a:r>
            <a:r>
              <a:rPr dirty="0"/>
              <a:t>. </a:t>
            </a:r>
            <a:r>
              <a:rPr dirty="0" err="1"/>
              <a:t>GraphRAG처럼</a:t>
            </a:r>
            <a:r>
              <a:rPr dirty="0"/>
              <a:t> </a:t>
            </a:r>
            <a:r>
              <a:rPr dirty="0" err="1"/>
              <a:t>그래프를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보조로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절충안도</a:t>
            </a:r>
            <a:r>
              <a:rPr dirty="0"/>
              <a:t>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논리가</a:t>
            </a:r>
            <a:r>
              <a:rPr dirty="0"/>
              <a:t> </a:t>
            </a:r>
            <a:r>
              <a:rPr dirty="0" err="1"/>
              <a:t>깊어지면</a:t>
            </a:r>
            <a:r>
              <a:rPr dirty="0"/>
              <a:t> </a:t>
            </a:r>
            <a:r>
              <a:rPr dirty="0" err="1"/>
              <a:t>실패한다는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저자들의</a:t>
            </a:r>
            <a:r>
              <a:rPr dirty="0"/>
              <a:t> </a:t>
            </a:r>
            <a:r>
              <a:rPr dirty="0" err="1"/>
              <a:t>진단입니다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논문</a:t>
            </a:r>
            <a:r>
              <a:rPr dirty="0"/>
              <a:t> Figure 1이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반복적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유형입니다</a:t>
            </a:r>
            <a:r>
              <a:rPr dirty="0"/>
              <a:t>. </a:t>
            </a:r>
            <a:r>
              <a:rPr dirty="0" err="1"/>
              <a:t>첫째</a:t>
            </a:r>
            <a:r>
              <a:rPr dirty="0"/>
              <a:t>, </a:t>
            </a:r>
            <a:r>
              <a:rPr dirty="0" err="1"/>
              <a:t>명시적</a:t>
            </a:r>
            <a:r>
              <a:rPr dirty="0"/>
              <a:t> </a:t>
            </a:r>
            <a:r>
              <a:rPr dirty="0" err="1"/>
              <a:t>상호참조가</a:t>
            </a:r>
            <a:r>
              <a:rPr dirty="0"/>
              <a:t>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조항에</a:t>
            </a:r>
            <a:r>
              <a:rPr dirty="0"/>
              <a:t> </a:t>
            </a:r>
            <a:r>
              <a:rPr dirty="0" err="1"/>
              <a:t>흩어져</a:t>
            </a:r>
            <a:r>
              <a:rPr dirty="0"/>
              <a:t> </a:t>
            </a:r>
            <a:r>
              <a:rPr dirty="0" err="1"/>
              <a:t>있을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쿼리</a:t>
            </a:r>
            <a:r>
              <a:rPr dirty="0"/>
              <a:t> </a:t>
            </a:r>
            <a:r>
              <a:rPr dirty="0" err="1"/>
              <a:t>관련성</a:t>
            </a:r>
            <a:r>
              <a:rPr dirty="0"/>
              <a:t> </a:t>
            </a:r>
            <a:r>
              <a:rPr dirty="0" err="1"/>
              <a:t>중심의</a:t>
            </a:r>
            <a:r>
              <a:rPr dirty="0"/>
              <a:t> </a:t>
            </a:r>
            <a:r>
              <a:rPr dirty="0" err="1"/>
              <a:t>검색은</a:t>
            </a:r>
            <a:r>
              <a:rPr dirty="0"/>
              <a:t> </a:t>
            </a:r>
            <a:r>
              <a:rPr dirty="0" err="1"/>
              <a:t>참조</a:t>
            </a:r>
            <a:r>
              <a:rPr dirty="0"/>
              <a:t> </a:t>
            </a:r>
            <a:r>
              <a:rPr dirty="0" err="1"/>
              <a:t>체인을</a:t>
            </a:r>
            <a:r>
              <a:rPr dirty="0"/>
              <a:t> </a:t>
            </a:r>
            <a:r>
              <a:rPr dirty="0" err="1"/>
              <a:t>놓칩니다</a:t>
            </a:r>
            <a:r>
              <a:rPr dirty="0"/>
              <a:t>. </a:t>
            </a:r>
            <a:r>
              <a:rPr dirty="0" err="1"/>
              <a:t>둘째</a:t>
            </a:r>
            <a:r>
              <a:rPr dirty="0"/>
              <a:t>, </a:t>
            </a:r>
            <a:r>
              <a:rPr dirty="0" err="1"/>
              <a:t>국외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규정처럼</a:t>
            </a:r>
            <a:r>
              <a:rPr dirty="0"/>
              <a:t> </a:t>
            </a:r>
            <a:r>
              <a:rPr dirty="0" err="1"/>
              <a:t>의사결정</a:t>
            </a:r>
            <a:r>
              <a:rPr dirty="0"/>
              <a:t> </a:t>
            </a:r>
            <a:r>
              <a:rPr dirty="0" err="1"/>
              <a:t>트리</a:t>
            </a:r>
            <a:r>
              <a:rPr dirty="0"/>
              <a:t> </a:t>
            </a:r>
            <a:r>
              <a:rPr dirty="0" err="1"/>
              <a:t>구조일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청킹이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논리를</a:t>
            </a:r>
            <a:r>
              <a:rPr dirty="0"/>
              <a:t> </a:t>
            </a:r>
            <a:r>
              <a:rPr dirty="0" err="1"/>
              <a:t>끊습니다</a:t>
            </a:r>
            <a:r>
              <a:rPr dirty="0"/>
              <a:t>. </a:t>
            </a:r>
            <a:r>
              <a:rPr dirty="0" err="1"/>
              <a:t>셋째</a:t>
            </a:r>
            <a:r>
              <a:rPr dirty="0"/>
              <a:t>, </a:t>
            </a:r>
            <a:r>
              <a:rPr dirty="0" err="1"/>
              <a:t>직접·간접</a:t>
            </a:r>
            <a:r>
              <a:rPr dirty="0"/>
              <a:t> </a:t>
            </a:r>
            <a:r>
              <a:rPr dirty="0" err="1"/>
              <a:t>수집처럼</a:t>
            </a:r>
            <a:r>
              <a:rPr dirty="0"/>
              <a:t> </a:t>
            </a:r>
            <a:r>
              <a:rPr dirty="0" err="1"/>
              <a:t>상호배타적인</a:t>
            </a:r>
            <a:r>
              <a:rPr dirty="0"/>
              <a:t> </a:t>
            </a:r>
            <a:r>
              <a:rPr dirty="0" err="1"/>
              <a:t>체크리스트가</a:t>
            </a:r>
            <a:r>
              <a:rPr dirty="0"/>
              <a:t> </a:t>
            </a:r>
            <a:r>
              <a:rPr dirty="0" err="1"/>
              <a:t>있으면</a:t>
            </a:r>
            <a:r>
              <a:rPr dirty="0"/>
              <a:t> LLM이 </a:t>
            </a:r>
            <a:r>
              <a:rPr dirty="0" err="1"/>
              <a:t>목록을</a:t>
            </a:r>
            <a:r>
              <a:rPr dirty="0"/>
              <a:t> </a:t>
            </a:r>
            <a:r>
              <a:rPr dirty="0" err="1"/>
              <a:t>섞어버리거나</a:t>
            </a:r>
            <a:r>
              <a:rPr dirty="0"/>
              <a:t> 1개월 </a:t>
            </a:r>
            <a:r>
              <a:rPr dirty="0" err="1"/>
              <a:t>기한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빠뜨립니다</a:t>
            </a:r>
            <a:r>
              <a:rPr dirty="0"/>
              <a:t>. 이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'</a:t>
            </a:r>
            <a:r>
              <a:rPr dirty="0" err="1"/>
              <a:t>검색을</a:t>
            </a:r>
            <a:r>
              <a:rPr dirty="0"/>
              <a:t>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잘하는</a:t>
            </a:r>
            <a:r>
              <a:rPr dirty="0"/>
              <a:t> </a:t>
            </a:r>
            <a:r>
              <a:rPr dirty="0" err="1"/>
              <a:t>것'이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'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실행하는</a:t>
            </a:r>
            <a:r>
              <a:rPr dirty="0"/>
              <a:t> </a:t>
            </a:r>
            <a:r>
              <a:rPr dirty="0" err="1"/>
              <a:t>것'이</a:t>
            </a:r>
            <a:r>
              <a:rPr dirty="0"/>
              <a:t> </a:t>
            </a:r>
            <a:r>
              <a:rPr dirty="0" err="1"/>
              <a:t>필요하다는</a:t>
            </a:r>
            <a:r>
              <a:rPr dirty="0"/>
              <a:t> </a:t>
            </a:r>
            <a:r>
              <a:rPr dirty="0" err="1"/>
              <a:t>점이</a:t>
            </a:r>
            <a:r>
              <a:rPr dirty="0"/>
              <a:t> </a:t>
            </a:r>
            <a:r>
              <a:rPr dirty="0" err="1"/>
              <a:t>핵심입니다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방금</a:t>
            </a:r>
            <a:r>
              <a:rPr dirty="0"/>
              <a:t> </a:t>
            </a:r>
            <a:r>
              <a:rPr dirty="0" err="1"/>
              <a:t>설명드린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유형을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원문</a:t>
            </a:r>
            <a:r>
              <a:rPr dirty="0"/>
              <a:t> </a:t>
            </a:r>
            <a:r>
              <a:rPr dirty="0" err="1"/>
              <a:t>그림으로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 </a:t>
            </a:r>
            <a:r>
              <a:rPr dirty="0" err="1"/>
              <a:t>왼쪽</a:t>
            </a:r>
            <a:r>
              <a:rPr dirty="0"/>
              <a:t> (a)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A조가</a:t>
            </a:r>
            <a:r>
              <a:rPr dirty="0"/>
              <a:t> </a:t>
            </a:r>
            <a:r>
              <a:rPr dirty="0" err="1"/>
              <a:t>B조·C조를</a:t>
            </a:r>
            <a:r>
              <a:rPr dirty="0"/>
              <a:t> </a:t>
            </a:r>
            <a:r>
              <a:rPr dirty="0" err="1"/>
              <a:t>참조하고</a:t>
            </a:r>
            <a:r>
              <a:rPr dirty="0"/>
              <a:t> B조가 </a:t>
            </a:r>
            <a:r>
              <a:rPr dirty="0" err="1"/>
              <a:t>다시</a:t>
            </a:r>
            <a:r>
              <a:rPr dirty="0"/>
              <a:t> C조를 </a:t>
            </a:r>
            <a:r>
              <a:rPr dirty="0" err="1"/>
              <a:t>참조하는</a:t>
            </a:r>
            <a:r>
              <a:rPr dirty="0"/>
              <a:t> </a:t>
            </a:r>
            <a:r>
              <a:rPr dirty="0" err="1"/>
              <a:t>구조인데</a:t>
            </a:r>
            <a:r>
              <a:rPr dirty="0"/>
              <a:t>, </a:t>
            </a:r>
            <a:r>
              <a:rPr dirty="0" err="1"/>
              <a:t>쿼리</a:t>
            </a:r>
            <a:r>
              <a:rPr dirty="0"/>
              <a:t> </a:t>
            </a:r>
            <a:r>
              <a:rPr dirty="0" err="1"/>
              <a:t>유사도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검색은</a:t>
            </a:r>
            <a:r>
              <a:rPr dirty="0"/>
              <a:t> 이 </a:t>
            </a:r>
            <a:r>
              <a:rPr dirty="0" err="1"/>
              <a:t>체인을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가져오지</a:t>
            </a:r>
            <a:r>
              <a:rPr dirty="0"/>
              <a:t> </a:t>
            </a:r>
            <a:r>
              <a:rPr dirty="0" err="1"/>
              <a:t>못합니다</a:t>
            </a:r>
            <a:r>
              <a:rPr dirty="0"/>
              <a:t>. </a:t>
            </a:r>
            <a:r>
              <a:rPr dirty="0" err="1"/>
              <a:t>가운데</a:t>
            </a:r>
            <a:r>
              <a:rPr dirty="0"/>
              <a:t> (b)</a:t>
            </a:r>
            <a:r>
              <a:rPr dirty="0" err="1"/>
              <a:t>는</a:t>
            </a:r>
            <a:r>
              <a:rPr dirty="0"/>
              <a:t> GDPR 5장의 </a:t>
            </a:r>
            <a:r>
              <a:rPr dirty="0" err="1"/>
              <a:t>국외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트리입니다</a:t>
            </a:r>
            <a:r>
              <a:rPr dirty="0"/>
              <a:t>. </a:t>
            </a:r>
            <a:r>
              <a:rPr dirty="0" err="1"/>
              <a:t>적정성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, </a:t>
            </a:r>
            <a:r>
              <a:rPr dirty="0" err="1"/>
              <a:t>적절한</a:t>
            </a:r>
            <a:r>
              <a:rPr dirty="0"/>
              <a:t> </a:t>
            </a:r>
            <a:r>
              <a:rPr dirty="0" err="1"/>
              <a:t>보호조치</a:t>
            </a:r>
            <a:r>
              <a:rPr dirty="0"/>
              <a:t>,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순서로</a:t>
            </a:r>
            <a:r>
              <a:rPr dirty="0"/>
              <a:t> </a:t>
            </a:r>
            <a:r>
              <a:rPr dirty="0" err="1"/>
              <a:t>하나씩</a:t>
            </a:r>
            <a:r>
              <a:rPr dirty="0"/>
              <a:t> </a:t>
            </a:r>
            <a:r>
              <a:rPr dirty="0" err="1"/>
              <a:t>확인해야</a:t>
            </a:r>
            <a:r>
              <a:rPr dirty="0"/>
              <a:t> </a:t>
            </a:r>
            <a:r>
              <a:rPr dirty="0" err="1"/>
              <a:t>하는데</a:t>
            </a:r>
            <a:r>
              <a:rPr dirty="0"/>
              <a:t> </a:t>
            </a:r>
            <a:r>
              <a:rPr dirty="0" err="1"/>
              <a:t>청킹은</a:t>
            </a:r>
            <a:r>
              <a:rPr dirty="0"/>
              <a:t> 이 </a:t>
            </a:r>
            <a:r>
              <a:rPr dirty="0" err="1"/>
              <a:t>순서를</a:t>
            </a:r>
            <a:r>
              <a:rPr dirty="0"/>
              <a:t> </a:t>
            </a:r>
            <a:r>
              <a:rPr dirty="0" err="1"/>
              <a:t>보존하지</a:t>
            </a:r>
            <a:r>
              <a:rPr dirty="0"/>
              <a:t> </a:t>
            </a:r>
            <a:r>
              <a:rPr dirty="0" err="1"/>
              <a:t>못합니다</a:t>
            </a:r>
            <a:r>
              <a:rPr dirty="0"/>
              <a:t>. </a:t>
            </a:r>
            <a:r>
              <a:rPr dirty="0" err="1"/>
              <a:t>오른쪽</a:t>
            </a:r>
            <a:r>
              <a:rPr dirty="0"/>
              <a:t> (c)</a:t>
            </a:r>
            <a:r>
              <a:rPr dirty="0" err="1"/>
              <a:t>는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수집과</a:t>
            </a:r>
            <a:r>
              <a:rPr dirty="0"/>
              <a:t> </a:t>
            </a:r>
            <a:r>
              <a:rPr dirty="0" err="1"/>
              <a:t>간접</a:t>
            </a:r>
            <a:r>
              <a:rPr dirty="0"/>
              <a:t> </a:t>
            </a:r>
            <a:r>
              <a:rPr dirty="0" err="1"/>
              <a:t>수집의</a:t>
            </a:r>
            <a:r>
              <a:rPr dirty="0"/>
              <a:t> </a:t>
            </a:r>
            <a:r>
              <a:rPr dirty="0" err="1"/>
              <a:t>고지</a:t>
            </a:r>
            <a:r>
              <a:rPr dirty="0"/>
              <a:t> </a:t>
            </a:r>
            <a:r>
              <a:rPr dirty="0" err="1"/>
              <a:t>의무</a:t>
            </a:r>
            <a:r>
              <a:rPr dirty="0"/>
              <a:t> </a:t>
            </a:r>
            <a:r>
              <a:rPr dirty="0" err="1"/>
              <a:t>체크리스트로</a:t>
            </a:r>
            <a:r>
              <a:rPr dirty="0"/>
              <a:t>, </a:t>
            </a:r>
            <a:r>
              <a:rPr dirty="0" err="1"/>
              <a:t>상호배타적인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목록을</a:t>
            </a:r>
            <a:r>
              <a:rPr dirty="0"/>
              <a:t>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자주</a:t>
            </a:r>
            <a:r>
              <a:rPr dirty="0"/>
              <a:t> </a:t>
            </a:r>
            <a:r>
              <a:rPr dirty="0" err="1"/>
              <a:t>병합하고</a:t>
            </a:r>
            <a:r>
              <a:rPr dirty="0"/>
              <a:t> 1개월 </a:t>
            </a:r>
            <a:r>
              <a:rPr dirty="0" err="1"/>
              <a:t>고지</a:t>
            </a:r>
            <a:r>
              <a:rPr dirty="0"/>
              <a:t> </a:t>
            </a:r>
            <a:r>
              <a:rPr dirty="0" err="1"/>
              <a:t>기한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조건을</a:t>
            </a:r>
            <a:r>
              <a:rPr dirty="0"/>
              <a:t> </a:t>
            </a:r>
            <a:r>
              <a:rPr dirty="0" err="1"/>
              <a:t>떨어뜨립니다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아이디어는</a:t>
            </a:r>
            <a:r>
              <a:rPr dirty="0"/>
              <a:t> </a:t>
            </a:r>
            <a:r>
              <a:rPr dirty="0" err="1"/>
              <a:t>지식그래프의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 </a:t>
            </a:r>
            <a:r>
              <a:rPr dirty="0" err="1"/>
              <a:t>전환입니다</a:t>
            </a:r>
            <a:r>
              <a:rPr dirty="0"/>
              <a:t>.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GraphRAG</a:t>
            </a:r>
            <a:r>
              <a:rPr dirty="0"/>
              <a:t> </a:t>
            </a:r>
            <a:r>
              <a:rPr dirty="0" err="1"/>
              <a:t>계열은</a:t>
            </a:r>
            <a:r>
              <a:rPr dirty="0"/>
              <a:t> </a:t>
            </a:r>
            <a:r>
              <a:rPr dirty="0" err="1"/>
              <a:t>그래프를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향상에</a:t>
            </a:r>
            <a:r>
              <a:rPr dirty="0"/>
              <a:t> </a:t>
            </a:r>
            <a:r>
              <a:rPr dirty="0" err="1"/>
              <a:t>썼지만</a:t>
            </a:r>
            <a:r>
              <a:rPr dirty="0"/>
              <a:t>, 이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그래프를</a:t>
            </a:r>
            <a:r>
              <a:rPr dirty="0"/>
              <a:t> '</a:t>
            </a:r>
            <a:r>
              <a:rPr dirty="0" err="1"/>
              <a:t>능동적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골격'으로</a:t>
            </a:r>
            <a:r>
              <a:rPr dirty="0"/>
              <a:t> </a:t>
            </a:r>
            <a:r>
              <a:rPr dirty="0" err="1"/>
              <a:t>씁니다</a:t>
            </a:r>
            <a:r>
              <a:rPr dirty="0"/>
              <a:t>. </a:t>
            </a:r>
            <a:r>
              <a:rPr dirty="0" err="1"/>
              <a:t>참조</a:t>
            </a:r>
            <a:r>
              <a:rPr dirty="0"/>
              <a:t> </a:t>
            </a:r>
            <a:r>
              <a:rPr dirty="0" err="1"/>
              <a:t>추적이나</a:t>
            </a:r>
            <a:r>
              <a:rPr dirty="0"/>
              <a:t> </a:t>
            </a:r>
            <a:r>
              <a:rPr dirty="0" err="1"/>
              <a:t>행위자</a:t>
            </a:r>
            <a:r>
              <a:rPr dirty="0"/>
              <a:t> </a:t>
            </a:r>
            <a:r>
              <a:rPr dirty="0" err="1"/>
              <a:t>속성</a:t>
            </a:r>
            <a:r>
              <a:rPr dirty="0"/>
              <a:t> </a:t>
            </a:r>
            <a:r>
              <a:rPr dirty="0" err="1"/>
              <a:t>확인처럼</a:t>
            </a:r>
            <a:r>
              <a:rPr dirty="0"/>
              <a:t> </a:t>
            </a:r>
            <a:r>
              <a:rPr dirty="0" err="1"/>
              <a:t>명시적으로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신뢰할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순회로</a:t>
            </a:r>
            <a:r>
              <a:rPr dirty="0"/>
              <a:t> </a:t>
            </a:r>
            <a:r>
              <a:rPr dirty="0" err="1"/>
              <a:t>처리하고</a:t>
            </a:r>
            <a:r>
              <a:rPr dirty="0"/>
              <a:t>, </a:t>
            </a:r>
            <a:r>
              <a:rPr dirty="0" err="1"/>
              <a:t>LLM에게는</a:t>
            </a:r>
            <a:r>
              <a:rPr dirty="0"/>
              <a:t> </a:t>
            </a: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분석되어</a:t>
            </a:r>
            <a:r>
              <a:rPr dirty="0"/>
              <a:t> </a:t>
            </a:r>
            <a:r>
              <a:rPr dirty="0" err="1"/>
              <a:t>단순화된</a:t>
            </a:r>
            <a:r>
              <a:rPr dirty="0"/>
              <a:t> </a:t>
            </a:r>
            <a:r>
              <a:rPr dirty="0" err="1"/>
              <a:t>문제만</a:t>
            </a:r>
            <a:r>
              <a:rPr dirty="0"/>
              <a:t> </a:t>
            </a:r>
            <a:r>
              <a:rPr dirty="0" err="1"/>
              <a:t>넘깁니다</a:t>
            </a:r>
            <a:r>
              <a:rPr dirty="0"/>
              <a:t>. </a:t>
            </a:r>
            <a:r>
              <a:rPr dirty="0" err="1"/>
              <a:t>이를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측의</a:t>
            </a:r>
            <a:r>
              <a:rPr dirty="0"/>
              <a:t> Policy Graph, </a:t>
            </a:r>
            <a:r>
              <a:rPr dirty="0" err="1"/>
              <a:t>상황</a:t>
            </a:r>
            <a:r>
              <a:rPr dirty="0"/>
              <a:t> </a:t>
            </a:r>
            <a:r>
              <a:rPr dirty="0" err="1"/>
              <a:t>측의</a:t>
            </a:r>
            <a:r>
              <a:rPr dirty="0"/>
              <a:t> Context Graph,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둘을</a:t>
            </a:r>
            <a:r>
              <a:rPr dirty="0"/>
              <a:t> </a:t>
            </a:r>
            <a:r>
              <a:rPr dirty="0" err="1"/>
              <a:t>정렬하는</a:t>
            </a:r>
            <a:r>
              <a:rPr dirty="0"/>
              <a:t> Compliance </a:t>
            </a:r>
            <a:r>
              <a:rPr dirty="0" err="1"/>
              <a:t>Gate라는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모듈을</a:t>
            </a:r>
            <a:r>
              <a:rPr dirty="0"/>
              <a:t> </a:t>
            </a:r>
            <a:r>
              <a:rPr dirty="0" err="1"/>
              <a:t>설계했습니다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파이프라인입니다</a:t>
            </a:r>
            <a:r>
              <a:rPr dirty="0"/>
              <a:t>. </a:t>
            </a:r>
            <a:r>
              <a:rPr dirty="0" err="1"/>
              <a:t>왼쪽</a:t>
            </a:r>
            <a:r>
              <a:rPr dirty="0"/>
              <a:t> </a:t>
            </a:r>
            <a:r>
              <a:rPr dirty="0" err="1"/>
              <a:t>위</a:t>
            </a:r>
            <a:r>
              <a:rPr dirty="0"/>
              <a:t>, GDPR </a:t>
            </a:r>
            <a:r>
              <a:rPr dirty="0" err="1"/>
              <a:t>문서는</a:t>
            </a:r>
            <a:r>
              <a:rPr dirty="0"/>
              <a:t> </a:t>
            </a:r>
            <a:r>
              <a:rPr dirty="0" err="1"/>
              <a:t>오프라인에서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번</a:t>
            </a:r>
            <a:r>
              <a:rPr dirty="0"/>
              <a:t> Policy Graph로 </a:t>
            </a:r>
            <a:r>
              <a:rPr dirty="0" err="1"/>
              <a:t>변환됩니다</a:t>
            </a:r>
            <a:r>
              <a:rPr dirty="0"/>
              <a:t>. </a:t>
            </a:r>
            <a:r>
              <a:rPr dirty="0" err="1"/>
              <a:t>왼쪽</a:t>
            </a:r>
            <a:r>
              <a:rPr dirty="0"/>
              <a:t> </a:t>
            </a:r>
            <a:r>
              <a:rPr dirty="0" err="1"/>
              <a:t>아래</a:t>
            </a:r>
            <a:r>
              <a:rPr dirty="0"/>
              <a:t>,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시나리오는</a:t>
            </a:r>
            <a:r>
              <a:rPr dirty="0"/>
              <a:t> ER-triple </a:t>
            </a:r>
            <a:r>
              <a:rPr dirty="0" err="1"/>
              <a:t>기반</a:t>
            </a:r>
            <a:r>
              <a:rPr dirty="0"/>
              <a:t> Context Graph로 </a:t>
            </a:r>
            <a:r>
              <a:rPr dirty="0" err="1"/>
              <a:t>변환됩니다</a:t>
            </a:r>
            <a:r>
              <a:rPr dirty="0"/>
              <a:t>. </a:t>
            </a:r>
            <a:r>
              <a:rPr dirty="0" err="1"/>
              <a:t>가운데</a:t>
            </a:r>
            <a:r>
              <a:rPr dirty="0"/>
              <a:t> Compliance </a:t>
            </a:r>
            <a:r>
              <a:rPr dirty="0" err="1"/>
              <a:t>Gate가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그래프를</a:t>
            </a:r>
            <a:r>
              <a:rPr dirty="0"/>
              <a:t> </a:t>
            </a:r>
            <a:r>
              <a:rPr dirty="0" err="1"/>
              <a:t>받아</a:t>
            </a:r>
            <a:r>
              <a:rPr dirty="0"/>
              <a:t> anchor </a:t>
            </a:r>
            <a:r>
              <a:rPr dirty="0" err="1"/>
              <a:t>생성</a:t>
            </a:r>
            <a:r>
              <a:rPr dirty="0"/>
              <a:t>, </a:t>
            </a:r>
            <a:r>
              <a:rPr dirty="0" err="1"/>
              <a:t>후보</a:t>
            </a:r>
            <a:r>
              <a:rPr dirty="0"/>
              <a:t> CU </a:t>
            </a:r>
            <a:r>
              <a:rPr dirty="0" err="1"/>
              <a:t>검색</a:t>
            </a:r>
            <a:r>
              <a:rPr dirty="0"/>
              <a:t>, LLM </a:t>
            </a:r>
            <a:r>
              <a:rPr dirty="0" err="1"/>
              <a:t>판단</a:t>
            </a:r>
            <a:r>
              <a:rPr dirty="0"/>
              <a:t>,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override의</a:t>
            </a:r>
            <a:r>
              <a:rPr dirty="0"/>
              <a:t> 4단계를 </a:t>
            </a:r>
            <a:r>
              <a:rPr dirty="0" err="1"/>
              <a:t>거쳐</a:t>
            </a:r>
            <a:r>
              <a:rPr dirty="0"/>
              <a:t> </a:t>
            </a:r>
            <a:r>
              <a:rPr dirty="0" err="1"/>
              <a:t>조항</a:t>
            </a:r>
            <a:r>
              <a:rPr dirty="0"/>
              <a:t> </a:t>
            </a:r>
            <a:r>
              <a:rPr dirty="0" err="1"/>
              <a:t>단위의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냅니다</a:t>
            </a:r>
            <a:r>
              <a:rPr dirty="0"/>
              <a:t>.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구축이</a:t>
            </a:r>
            <a:r>
              <a:rPr dirty="0"/>
              <a:t> 1회성이므로 </a:t>
            </a:r>
            <a:r>
              <a:rPr dirty="0" err="1"/>
              <a:t>런타임</a:t>
            </a:r>
            <a:r>
              <a:rPr dirty="0"/>
              <a:t> </a:t>
            </a:r>
            <a:r>
              <a:rPr dirty="0" err="1"/>
              <a:t>비용은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처리에</a:t>
            </a:r>
            <a:r>
              <a:rPr dirty="0"/>
              <a:t> </a:t>
            </a:r>
            <a:r>
              <a:rPr dirty="0" err="1"/>
              <a:t>집중된다는</a:t>
            </a:r>
            <a:r>
              <a:rPr dirty="0"/>
              <a:t> </a:t>
            </a:r>
            <a:r>
              <a:rPr dirty="0" err="1"/>
              <a:t>점이</a:t>
            </a:r>
            <a:r>
              <a:rPr dirty="0"/>
              <a:t> </a:t>
            </a:r>
            <a:r>
              <a:rPr dirty="0" err="1"/>
              <a:t>실용적</a:t>
            </a:r>
            <a:r>
              <a:rPr dirty="0"/>
              <a:t> </a:t>
            </a:r>
            <a:r>
              <a:rPr dirty="0" err="1"/>
              <a:t>장점입니다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파이프라인을</a:t>
            </a:r>
            <a:r>
              <a:rPr dirty="0"/>
              <a:t> </a:t>
            </a:r>
            <a:r>
              <a:rPr dirty="0" err="1"/>
              <a:t>원문</a:t>
            </a:r>
            <a:r>
              <a:rPr dirty="0"/>
              <a:t> </a:t>
            </a:r>
            <a:r>
              <a:rPr dirty="0" err="1"/>
              <a:t>그림으로</a:t>
            </a:r>
            <a:r>
              <a:rPr dirty="0"/>
              <a:t> </a:t>
            </a:r>
            <a:r>
              <a:rPr dirty="0" err="1"/>
              <a:t>보면</a:t>
            </a:r>
            <a:r>
              <a:rPr dirty="0"/>
              <a:t>, </a:t>
            </a:r>
            <a:r>
              <a:rPr dirty="0" err="1"/>
              <a:t>리옹의</a:t>
            </a:r>
            <a:r>
              <a:rPr dirty="0"/>
              <a:t> </a:t>
            </a:r>
            <a:r>
              <a:rPr dirty="0" err="1"/>
              <a:t>사립</a:t>
            </a:r>
            <a:r>
              <a:rPr dirty="0"/>
              <a:t> </a:t>
            </a:r>
            <a:r>
              <a:rPr dirty="0" err="1"/>
              <a:t>병원</a:t>
            </a:r>
            <a:r>
              <a:rPr dirty="0"/>
              <a:t> </a:t>
            </a:r>
            <a:r>
              <a:rPr dirty="0" err="1"/>
              <a:t>그룹이</a:t>
            </a:r>
            <a:r>
              <a:rPr dirty="0"/>
              <a:t> EHR에서 </a:t>
            </a:r>
            <a:r>
              <a:rPr dirty="0" err="1"/>
              <a:t>진단</a:t>
            </a:r>
            <a:r>
              <a:rPr dirty="0"/>
              <a:t> </a:t>
            </a:r>
            <a:r>
              <a:rPr dirty="0" err="1"/>
              <a:t>코드와</a:t>
            </a:r>
            <a:r>
              <a:rPr dirty="0"/>
              <a:t> </a:t>
            </a:r>
            <a:r>
              <a:rPr dirty="0" err="1"/>
              <a:t>해시된</a:t>
            </a:r>
            <a:r>
              <a:rPr dirty="0"/>
              <a:t> </a:t>
            </a:r>
            <a:r>
              <a:rPr dirty="0" err="1"/>
              <a:t>환자</a:t>
            </a:r>
            <a:r>
              <a:rPr dirty="0"/>
              <a:t> </a:t>
            </a:r>
            <a:r>
              <a:rPr dirty="0" err="1"/>
              <a:t>ID가</a:t>
            </a:r>
            <a:r>
              <a:rPr dirty="0"/>
              <a:t> </a:t>
            </a:r>
            <a:r>
              <a:rPr dirty="0" err="1"/>
              <a:t>담긴</a:t>
            </a:r>
            <a:r>
              <a:rPr dirty="0"/>
              <a:t> </a:t>
            </a:r>
            <a:r>
              <a:rPr dirty="0" err="1"/>
              <a:t>주간</a:t>
            </a:r>
            <a:r>
              <a:rPr dirty="0"/>
              <a:t> </a:t>
            </a:r>
            <a:r>
              <a:rPr dirty="0" err="1"/>
              <a:t>파일을</a:t>
            </a:r>
            <a:r>
              <a:rPr dirty="0"/>
              <a:t> </a:t>
            </a:r>
            <a:r>
              <a:rPr dirty="0" err="1"/>
              <a:t>내보내려는</a:t>
            </a:r>
            <a:r>
              <a:rPr dirty="0"/>
              <a:t> </a:t>
            </a:r>
            <a:r>
              <a:rPr dirty="0" err="1"/>
              <a:t>시나리오입니다</a:t>
            </a:r>
            <a:r>
              <a:rPr dirty="0"/>
              <a:t>. </a:t>
            </a:r>
            <a:r>
              <a:rPr dirty="0" err="1"/>
              <a:t>위쪽</a:t>
            </a:r>
            <a:r>
              <a:rPr dirty="0"/>
              <a:t> </a:t>
            </a:r>
            <a:r>
              <a:rPr dirty="0" err="1"/>
              <a:t>빨간</a:t>
            </a:r>
            <a:r>
              <a:rPr dirty="0"/>
              <a:t> </a:t>
            </a:r>
            <a:r>
              <a:rPr dirty="0" err="1"/>
              <a:t>영역에서</a:t>
            </a:r>
            <a:r>
              <a:rPr dirty="0"/>
              <a:t> GDPR 9조 1항이 </a:t>
            </a:r>
            <a:r>
              <a:rPr dirty="0" err="1"/>
              <a:t>subject는</a:t>
            </a:r>
            <a:r>
              <a:rPr dirty="0"/>
              <a:t>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, </a:t>
            </a:r>
            <a:r>
              <a:rPr dirty="0" err="1"/>
              <a:t>constraint는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, </a:t>
            </a:r>
            <a:r>
              <a:rPr dirty="0" err="1"/>
              <a:t>context는</a:t>
            </a:r>
            <a:r>
              <a:rPr dirty="0"/>
              <a:t> 8개 </a:t>
            </a:r>
            <a:r>
              <a:rPr dirty="0" err="1"/>
              <a:t>특수범주라는</a:t>
            </a:r>
            <a:r>
              <a:rPr dirty="0"/>
              <a:t> Compliance </a:t>
            </a:r>
            <a:r>
              <a:rPr dirty="0" err="1"/>
              <a:t>Unit으로</a:t>
            </a:r>
            <a:r>
              <a:rPr dirty="0"/>
              <a:t> </a:t>
            </a:r>
            <a:r>
              <a:rPr dirty="0" err="1"/>
              <a:t>변환되고</a:t>
            </a:r>
            <a:r>
              <a:rPr dirty="0"/>
              <a:t>, </a:t>
            </a:r>
            <a:r>
              <a:rPr dirty="0" err="1"/>
              <a:t>아래쪽</a:t>
            </a:r>
            <a:r>
              <a:rPr dirty="0"/>
              <a:t> </a:t>
            </a:r>
            <a:r>
              <a:rPr dirty="0" err="1"/>
              <a:t>파란</a:t>
            </a:r>
            <a:r>
              <a:rPr dirty="0"/>
              <a:t> </a:t>
            </a:r>
            <a:r>
              <a:rPr dirty="0" err="1"/>
              <a:t>영역에서</a:t>
            </a:r>
            <a:r>
              <a:rPr dirty="0"/>
              <a:t> </a:t>
            </a:r>
            <a:r>
              <a:rPr dirty="0" err="1"/>
              <a:t>시나리오가</a:t>
            </a:r>
            <a:r>
              <a:rPr dirty="0"/>
              <a:t> Actor_1, </a:t>
            </a:r>
            <a:r>
              <a:rPr dirty="0" err="1"/>
              <a:t>병원그룹</a:t>
            </a:r>
            <a:r>
              <a:rPr dirty="0"/>
              <a:t>, EHR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간의</a:t>
            </a:r>
            <a:r>
              <a:rPr dirty="0"/>
              <a:t> ER-</a:t>
            </a:r>
            <a:r>
              <a:rPr dirty="0" err="1"/>
              <a:t>triple로</a:t>
            </a:r>
            <a:r>
              <a:rPr dirty="0"/>
              <a:t> </a:t>
            </a:r>
            <a:r>
              <a:rPr dirty="0" err="1"/>
              <a:t>변환됩니다</a:t>
            </a:r>
            <a:r>
              <a:rPr dirty="0"/>
              <a:t>. </a:t>
            </a:r>
            <a:r>
              <a:rPr dirty="0" err="1"/>
              <a:t>가운데</a:t>
            </a:r>
            <a:r>
              <a:rPr dirty="0"/>
              <a:t> </a:t>
            </a:r>
            <a:r>
              <a:rPr dirty="0" err="1"/>
              <a:t>초록</a:t>
            </a:r>
            <a:r>
              <a:rPr dirty="0"/>
              <a:t> </a:t>
            </a:r>
            <a:r>
              <a:rPr dirty="0" err="1"/>
              <a:t>영역의</a:t>
            </a:r>
            <a:r>
              <a:rPr dirty="0"/>
              <a:t> Compliance </a:t>
            </a:r>
            <a:r>
              <a:rPr dirty="0" err="1"/>
              <a:t>Gate가</a:t>
            </a:r>
            <a:r>
              <a:rPr dirty="0"/>
              <a:t> </a:t>
            </a:r>
            <a:r>
              <a:rPr dirty="0" err="1"/>
              <a:t>병원그룹과</a:t>
            </a:r>
            <a:r>
              <a:rPr dirty="0"/>
              <a:t> EHR </a:t>
            </a:r>
            <a:r>
              <a:rPr dirty="0" err="1"/>
              <a:t>시스템을</a:t>
            </a:r>
            <a:r>
              <a:rPr dirty="0"/>
              <a:t> </a:t>
            </a:r>
            <a:r>
              <a:rPr dirty="0" err="1"/>
              <a:t>anchor로</a:t>
            </a:r>
            <a:r>
              <a:rPr dirty="0"/>
              <a:t> </a:t>
            </a:r>
            <a:r>
              <a:rPr dirty="0" err="1"/>
              <a:t>묶고</a:t>
            </a:r>
            <a:r>
              <a:rPr dirty="0"/>
              <a:t>, 9조 1항을 </a:t>
            </a:r>
            <a:r>
              <a:rPr dirty="0" err="1"/>
              <a:t>포함한</a:t>
            </a:r>
            <a:r>
              <a:rPr dirty="0"/>
              <a:t> CU </a:t>
            </a:r>
            <a:r>
              <a:rPr dirty="0" err="1"/>
              <a:t>Plan을</a:t>
            </a:r>
            <a:r>
              <a:rPr dirty="0"/>
              <a:t> </a:t>
            </a:r>
            <a:r>
              <a:rPr dirty="0" err="1"/>
              <a:t>검색한</a:t>
            </a:r>
            <a:r>
              <a:rPr dirty="0"/>
              <a:t> </a:t>
            </a:r>
            <a:r>
              <a:rPr dirty="0" err="1"/>
              <a:t>뒤</a:t>
            </a:r>
            <a:r>
              <a:rPr dirty="0"/>
              <a:t>, anchor </a:t>
            </a:r>
            <a:r>
              <a:rPr dirty="0" err="1"/>
              <a:t>주변</a:t>
            </a:r>
            <a:r>
              <a:rPr dirty="0"/>
              <a:t> n-hop </a:t>
            </a:r>
            <a:r>
              <a:rPr dirty="0" err="1"/>
              <a:t>부분그래프를</a:t>
            </a:r>
            <a:r>
              <a:rPr dirty="0"/>
              <a:t> </a:t>
            </a:r>
            <a:r>
              <a:rPr dirty="0" err="1"/>
              <a:t>증거로</a:t>
            </a:r>
            <a:r>
              <a:rPr dirty="0"/>
              <a:t>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내립니다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부록</a:t>
            </a:r>
            <a:r>
              <a:rPr dirty="0"/>
              <a:t> </a:t>
            </a:r>
            <a:r>
              <a:rPr dirty="0" err="1"/>
              <a:t>D에</a:t>
            </a:r>
            <a:r>
              <a:rPr dirty="0"/>
              <a:t> </a:t>
            </a:r>
            <a:r>
              <a:rPr dirty="0" err="1"/>
              <a:t>공개된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예시로</a:t>
            </a:r>
            <a:r>
              <a:rPr dirty="0"/>
              <a:t>, </a:t>
            </a:r>
            <a:r>
              <a:rPr dirty="0" err="1"/>
              <a:t>앞서</a:t>
            </a:r>
            <a:r>
              <a:rPr dirty="0"/>
              <a:t> Figure 2에 </a:t>
            </a:r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병원</a:t>
            </a:r>
            <a:r>
              <a:rPr dirty="0"/>
              <a:t> </a:t>
            </a:r>
            <a:r>
              <a:rPr dirty="0" err="1"/>
              <a:t>시나리오의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버전입니다</a:t>
            </a:r>
            <a:r>
              <a:rPr dirty="0"/>
              <a:t>. </a:t>
            </a:r>
            <a:r>
              <a:rPr dirty="0" err="1"/>
              <a:t>왼쪽이</a:t>
            </a:r>
            <a:r>
              <a:rPr dirty="0"/>
              <a:t> </a:t>
            </a:r>
            <a:r>
              <a:rPr dirty="0" err="1"/>
              <a:t>시나리오인데</a:t>
            </a:r>
            <a:r>
              <a:rPr dirty="0"/>
              <a:t>, </a:t>
            </a:r>
            <a:r>
              <a:rPr dirty="0" err="1"/>
              <a:t>표면적으로는</a:t>
            </a:r>
            <a:r>
              <a:rPr dirty="0"/>
              <a:t> </a:t>
            </a:r>
            <a:r>
              <a:rPr dirty="0" err="1"/>
              <a:t>평범한</a:t>
            </a:r>
            <a:r>
              <a:rPr dirty="0"/>
              <a:t> </a:t>
            </a:r>
            <a:r>
              <a:rPr dirty="0" err="1"/>
              <a:t>마케팅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연동처럼</a:t>
            </a:r>
            <a:r>
              <a:rPr dirty="0"/>
              <a:t> </a:t>
            </a:r>
            <a:r>
              <a:rPr dirty="0" err="1"/>
              <a:t>보입니다</a:t>
            </a:r>
            <a:r>
              <a:rPr dirty="0"/>
              <a:t>. </a:t>
            </a:r>
            <a:r>
              <a:rPr dirty="0" err="1"/>
              <a:t>가운데가</a:t>
            </a:r>
            <a:r>
              <a:rPr dirty="0"/>
              <a:t> Context </a:t>
            </a:r>
            <a:r>
              <a:rPr dirty="0" err="1"/>
              <a:t>Graph와</a:t>
            </a:r>
            <a:r>
              <a:rPr dirty="0"/>
              <a:t> hypernym </a:t>
            </a:r>
            <a:r>
              <a:rPr dirty="0" err="1"/>
              <a:t>매핑이</a:t>
            </a:r>
            <a:r>
              <a:rPr dirty="0"/>
              <a:t> </a:t>
            </a:r>
            <a:r>
              <a:rPr dirty="0" err="1"/>
              <a:t>포착하는</a:t>
            </a:r>
            <a:r>
              <a:rPr dirty="0"/>
              <a:t> </a:t>
            </a:r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사실입니다</a:t>
            </a:r>
            <a:r>
              <a:rPr dirty="0"/>
              <a:t>. IT </a:t>
            </a:r>
            <a:r>
              <a:rPr dirty="0" err="1"/>
              <a:t>매니저는</a:t>
            </a:r>
            <a:r>
              <a:rPr dirty="0"/>
              <a:t> </a:t>
            </a:r>
            <a:r>
              <a:rPr dirty="0" err="1"/>
              <a:t>controller로</a:t>
            </a:r>
            <a:r>
              <a:rPr dirty="0"/>
              <a:t>, </a:t>
            </a:r>
            <a:r>
              <a:rPr dirty="0" err="1"/>
              <a:t>퇴원일과</a:t>
            </a:r>
            <a:r>
              <a:rPr dirty="0"/>
              <a:t> </a:t>
            </a:r>
            <a:r>
              <a:rPr dirty="0" err="1"/>
              <a:t>진단코드는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데이터라는</a:t>
            </a:r>
            <a:r>
              <a:rPr dirty="0"/>
              <a:t> </a:t>
            </a:r>
            <a:r>
              <a:rPr dirty="0" err="1"/>
              <a:t>특수범주로</a:t>
            </a:r>
            <a:r>
              <a:rPr dirty="0"/>
              <a:t> </a:t>
            </a:r>
            <a:r>
              <a:rPr dirty="0" err="1"/>
              <a:t>정규화됩니다</a:t>
            </a:r>
            <a:r>
              <a:rPr dirty="0"/>
              <a:t>. </a:t>
            </a:r>
            <a:r>
              <a:rPr dirty="0" err="1"/>
              <a:t>오른쪽이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</a:t>
            </a:r>
            <a:r>
              <a:rPr dirty="0" err="1"/>
              <a:t>라벨인데</a:t>
            </a:r>
            <a:r>
              <a:rPr dirty="0"/>
              <a:t>, 이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시나리오가</a:t>
            </a:r>
            <a:r>
              <a:rPr dirty="0"/>
              <a:t> 9조 </a:t>
            </a:r>
            <a:r>
              <a:rPr dirty="0" err="1"/>
              <a:t>특수범주</a:t>
            </a:r>
            <a:r>
              <a:rPr dirty="0"/>
              <a:t>, 7조 </a:t>
            </a:r>
            <a:r>
              <a:rPr dirty="0" err="1"/>
              <a:t>동의</a:t>
            </a:r>
            <a:r>
              <a:rPr dirty="0"/>
              <a:t> </a:t>
            </a:r>
            <a:r>
              <a:rPr dirty="0" err="1"/>
              <a:t>유효성</a:t>
            </a:r>
            <a:r>
              <a:rPr dirty="0"/>
              <a:t>, 44~49조 </a:t>
            </a:r>
            <a:r>
              <a:rPr dirty="0" err="1"/>
              <a:t>국외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, 5조 </a:t>
            </a:r>
            <a:r>
              <a:rPr dirty="0" err="1"/>
              <a:t>목적</a:t>
            </a:r>
            <a:r>
              <a:rPr dirty="0"/>
              <a:t> </a:t>
            </a:r>
            <a:r>
              <a:rPr dirty="0" err="1"/>
              <a:t>제한</a:t>
            </a:r>
            <a:r>
              <a:rPr dirty="0"/>
              <a:t>, 12~14조 </a:t>
            </a:r>
            <a:r>
              <a:rPr dirty="0" err="1"/>
              <a:t>투명성까지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위반합니다</a:t>
            </a:r>
            <a:r>
              <a:rPr dirty="0"/>
              <a:t>. </a:t>
            </a:r>
            <a:r>
              <a:rPr dirty="0" err="1"/>
              <a:t>왜</a:t>
            </a:r>
            <a:r>
              <a:rPr dirty="0"/>
              <a:t> 이 </a:t>
            </a:r>
            <a:r>
              <a:rPr dirty="0" err="1"/>
              <a:t>과제가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분류가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조항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multi-label </a:t>
            </a:r>
            <a:r>
              <a:rPr dirty="0" err="1"/>
              <a:t>판정이고</a:t>
            </a:r>
            <a:r>
              <a:rPr dirty="0"/>
              <a:t>, </a:t>
            </a:r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추론이</a:t>
            </a:r>
            <a:r>
              <a:rPr dirty="0"/>
              <a:t> </a:t>
            </a:r>
            <a:r>
              <a:rPr dirty="0" err="1"/>
              <a:t>필요한지</a:t>
            </a:r>
            <a:r>
              <a:rPr dirty="0"/>
              <a:t>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사례입니다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Policy Graph는 3단계로 </a:t>
            </a:r>
            <a:r>
              <a:rPr dirty="0" err="1"/>
              <a:t>만듭니다</a:t>
            </a:r>
            <a:r>
              <a:rPr dirty="0"/>
              <a:t>.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텍스트를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나누고</a:t>
            </a:r>
            <a:r>
              <a:rPr dirty="0"/>
              <a:t> </a:t>
            </a:r>
            <a:r>
              <a:rPr dirty="0" err="1"/>
              <a:t>premise와</a:t>
            </a:r>
            <a:r>
              <a:rPr dirty="0"/>
              <a:t> Compliance </a:t>
            </a:r>
            <a:r>
              <a:rPr dirty="0" err="1"/>
              <a:t>Unit으로</a:t>
            </a:r>
            <a:r>
              <a:rPr dirty="0"/>
              <a:t> </a:t>
            </a:r>
            <a:r>
              <a:rPr dirty="0" err="1"/>
              <a:t>분류합니다</a:t>
            </a:r>
            <a:r>
              <a:rPr dirty="0"/>
              <a:t>. </a:t>
            </a:r>
            <a:r>
              <a:rPr dirty="0" err="1"/>
              <a:t>premise는</a:t>
            </a:r>
            <a:r>
              <a:rPr dirty="0"/>
              <a:t> </a:t>
            </a:r>
            <a:r>
              <a:rPr dirty="0" err="1"/>
              <a:t>정의나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범위처럼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자체로는</a:t>
            </a:r>
            <a:r>
              <a:rPr dirty="0"/>
              <a:t> </a:t>
            </a:r>
            <a:r>
              <a:rPr dirty="0" err="1"/>
              <a:t>위반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재료입니다</a:t>
            </a:r>
            <a:r>
              <a:rPr dirty="0"/>
              <a:t>.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CU는</a:t>
            </a:r>
            <a:r>
              <a:rPr dirty="0"/>
              <a:t> subject, condition, constraint, </a:t>
            </a:r>
            <a:r>
              <a:rPr dirty="0" err="1"/>
              <a:t>context의</a:t>
            </a:r>
            <a:r>
              <a:rPr dirty="0"/>
              <a:t> 4-tuple로 </a:t>
            </a:r>
            <a:r>
              <a:rPr dirty="0" err="1"/>
              <a:t>형식화되며</a:t>
            </a:r>
            <a:r>
              <a:rPr dirty="0"/>
              <a:t>, </a:t>
            </a:r>
            <a:r>
              <a:rPr dirty="0" err="1"/>
              <a:t>행위자에게</a:t>
            </a:r>
            <a:r>
              <a:rPr dirty="0"/>
              <a:t> </a:t>
            </a:r>
            <a:r>
              <a:rPr dirty="0" err="1"/>
              <a:t>부과되는</a:t>
            </a:r>
            <a:r>
              <a:rPr dirty="0"/>
              <a:t> actor-</a:t>
            </a:r>
            <a:r>
              <a:rPr dirty="0" err="1"/>
              <a:t>CU와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가능성을</a:t>
            </a:r>
            <a:r>
              <a:rPr dirty="0"/>
              <a:t> </a:t>
            </a:r>
            <a:r>
              <a:rPr dirty="0" err="1"/>
              <a:t>정하는</a:t>
            </a:r>
            <a:r>
              <a:rPr dirty="0"/>
              <a:t> meta-</a:t>
            </a:r>
            <a:r>
              <a:rPr dirty="0" err="1"/>
              <a:t>CU로</a:t>
            </a:r>
            <a:r>
              <a:rPr dirty="0"/>
              <a:t> </a:t>
            </a:r>
            <a:r>
              <a:rPr dirty="0" err="1"/>
              <a:t>구분됩니다</a:t>
            </a:r>
            <a:r>
              <a:rPr dirty="0"/>
              <a:t>. </a:t>
            </a:r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정규식과</a:t>
            </a:r>
            <a:r>
              <a:rPr dirty="0"/>
              <a:t> </a:t>
            </a:r>
            <a:r>
              <a:rPr dirty="0" err="1"/>
              <a:t>소형</a:t>
            </a:r>
            <a:r>
              <a:rPr dirty="0"/>
              <a:t> </a:t>
            </a:r>
            <a:r>
              <a:rPr dirty="0" err="1"/>
              <a:t>LLM으로</a:t>
            </a:r>
            <a:r>
              <a:rPr dirty="0"/>
              <a:t> </a:t>
            </a:r>
            <a:r>
              <a:rPr dirty="0" err="1"/>
              <a:t>명시적·암시적</a:t>
            </a:r>
            <a:r>
              <a:rPr dirty="0"/>
              <a:t> </a:t>
            </a:r>
            <a:r>
              <a:rPr dirty="0" err="1"/>
              <a:t>상호참조를</a:t>
            </a:r>
            <a:r>
              <a:rPr dirty="0"/>
              <a:t> REFERS_TO </a:t>
            </a:r>
            <a:r>
              <a:rPr dirty="0" err="1"/>
              <a:t>엣지로</a:t>
            </a:r>
            <a:r>
              <a:rPr dirty="0"/>
              <a:t> </a:t>
            </a:r>
            <a:r>
              <a:rPr dirty="0" err="1"/>
              <a:t>연결합니다</a:t>
            </a:r>
            <a:r>
              <a:rPr dirty="0"/>
              <a:t>. </a:t>
            </a:r>
            <a:r>
              <a:rPr dirty="0" err="1"/>
              <a:t>오른쪽은</a:t>
            </a:r>
            <a:r>
              <a:rPr dirty="0"/>
              <a:t> 9조 1항의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 </a:t>
            </a:r>
            <a:r>
              <a:rPr dirty="0" err="1"/>
              <a:t>예시입니다</a:t>
            </a:r>
            <a:r>
              <a:rPr dirty="0"/>
              <a:t>. 이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과정은</a:t>
            </a:r>
            <a:r>
              <a:rPr dirty="0"/>
              <a:t> </a:t>
            </a:r>
            <a:r>
              <a:rPr dirty="0" err="1"/>
              <a:t>오프라인에서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번만</a:t>
            </a:r>
            <a:r>
              <a:rPr dirty="0"/>
              <a:t> </a:t>
            </a:r>
            <a:r>
              <a:rPr dirty="0" err="1"/>
              <a:t>수행됩니다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Context </a:t>
            </a:r>
            <a:r>
              <a:rPr dirty="0" err="1"/>
              <a:t>Graph는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단계입니다</a:t>
            </a:r>
            <a:r>
              <a:rPr dirty="0"/>
              <a:t>. </a:t>
            </a:r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텍스트에서</a:t>
            </a:r>
            <a:r>
              <a:rPr dirty="0"/>
              <a:t> </a:t>
            </a:r>
            <a:r>
              <a:rPr dirty="0" err="1"/>
              <a:t>주어-술어-목적어</a:t>
            </a:r>
            <a:r>
              <a:rPr dirty="0"/>
              <a:t> </a:t>
            </a:r>
            <a:r>
              <a:rPr dirty="0" err="1"/>
              <a:t>트리플을</a:t>
            </a:r>
            <a:r>
              <a:rPr dirty="0"/>
              <a:t> </a:t>
            </a:r>
            <a:r>
              <a:rPr dirty="0" err="1"/>
              <a:t>추출합니다</a:t>
            </a:r>
            <a:r>
              <a:rPr dirty="0"/>
              <a:t>. </a:t>
            </a:r>
            <a:r>
              <a:rPr dirty="0" err="1"/>
              <a:t>다음이</a:t>
            </a:r>
            <a:r>
              <a:rPr dirty="0"/>
              <a:t> 이 </a:t>
            </a:r>
            <a:r>
              <a:rPr dirty="0" err="1"/>
              <a:t>논문의</a:t>
            </a:r>
            <a:r>
              <a:rPr dirty="0"/>
              <a:t> </a:t>
            </a:r>
            <a:r>
              <a:rPr dirty="0" err="1"/>
              <a:t>특징적인</a:t>
            </a:r>
            <a:r>
              <a:rPr dirty="0"/>
              <a:t> </a:t>
            </a:r>
            <a:r>
              <a:rPr dirty="0" err="1"/>
              <a:t>부분인</a:t>
            </a:r>
            <a:r>
              <a:rPr dirty="0"/>
              <a:t> hypernym </a:t>
            </a:r>
            <a:r>
              <a:rPr dirty="0" err="1"/>
              <a:t>mapping인데</a:t>
            </a:r>
            <a:r>
              <a:rPr dirty="0"/>
              <a:t>, </a:t>
            </a:r>
            <a:r>
              <a:rPr dirty="0" err="1"/>
              <a:t>추출된</a:t>
            </a:r>
            <a:r>
              <a:rPr dirty="0"/>
              <a:t> </a:t>
            </a:r>
            <a:r>
              <a:rPr dirty="0" err="1"/>
              <a:t>엔티티를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그래프의</a:t>
            </a:r>
            <a:r>
              <a:rPr dirty="0"/>
              <a:t> 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용어로</a:t>
            </a:r>
            <a:r>
              <a:rPr dirty="0"/>
              <a:t> </a:t>
            </a:r>
            <a:r>
              <a:rPr dirty="0" err="1"/>
              <a:t>정규화합니다</a:t>
            </a:r>
            <a:r>
              <a:rPr dirty="0"/>
              <a:t>. </a:t>
            </a:r>
            <a:r>
              <a:rPr dirty="0" err="1"/>
              <a:t>보통</a:t>
            </a:r>
            <a:r>
              <a:rPr dirty="0"/>
              <a:t> </a:t>
            </a:r>
            <a:r>
              <a:rPr dirty="0" err="1"/>
              <a:t>LLM이</a:t>
            </a:r>
            <a:r>
              <a:rPr dirty="0"/>
              <a:t> </a:t>
            </a:r>
            <a:r>
              <a:rPr dirty="0" err="1"/>
              <a:t>암묵적으로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매핑을</a:t>
            </a:r>
            <a:r>
              <a:rPr dirty="0"/>
              <a:t> </a:t>
            </a:r>
            <a:r>
              <a:rPr dirty="0" err="1"/>
              <a:t>명시적</a:t>
            </a:r>
            <a:r>
              <a:rPr dirty="0"/>
              <a:t> </a:t>
            </a:r>
            <a:r>
              <a:rPr dirty="0" err="1"/>
              <a:t>절차로</a:t>
            </a:r>
            <a:r>
              <a:rPr dirty="0"/>
              <a:t> </a:t>
            </a:r>
            <a:r>
              <a:rPr dirty="0" err="1"/>
              <a:t>외부화한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포인트입니다</a:t>
            </a:r>
            <a:r>
              <a:rPr dirty="0"/>
              <a:t>.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조각을</a:t>
            </a:r>
            <a:r>
              <a:rPr dirty="0"/>
              <a:t> </a:t>
            </a:r>
            <a:r>
              <a:rPr dirty="0" err="1"/>
              <a:t>검색해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상위어를</a:t>
            </a:r>
            <a:r>
              <a:rPr dirty="0"/>
              <a:t> </a:t>
            </a:r>
            <a:r>
              <a:rPr dirty="0" err="1"/>
              <a:t>얻고</a:t>
            </a:r>
            <a:r>
              <a:rPr dirty="0"/>
              <a:t>, </a:t>
            </a:r>
            <a:r>
              <a:rPr dirty="0" err="1"/>
              <a:t>premise에</a:t>
            </a:r>
            <a:r>
              <a:rPr dirty="0"/>
              <a:t> </a:t>
            </a:r>
            <a:r>
              <a:rPr dirty="0" err="1"/>
              <a:t>근거한</a:t>
            </a:r>
            <a:r>
              <a:rPr dirty="0"/>
              <a:t> </a:t>
            </a:r>
            <a:r>
              <a:rPr dirty="0" err="1"/>
              <a:t>제안은</a:t>
            </a:r>
            <a:r>
              <a:rPr dirty="0"/>
              <a:t> </a:t>
            </a:r>
            <a:r>
              <a:rPr dirty="0" err="1"/>
              <a:t>STRONG으로</a:t>
            </a:r>
            <a:r>
              <a:rPr dirty="0"/>
              <a:t> </a:t>
            </a:r>
            <a:r>
              <a:rPr dirty="0" err="1"/>
              <a:t>분류해</a:t>
            </a:r>
            <a:r>
              <a:rPr dirty="0"/>
              <a:t> 0.3의 </a:t>
            </a:r>
            <a:r>
              <a:rPr dirty="0" err="1"/>
              <a:t>보너스를</a:t>
            </a:r>
            <a:r>
              <a:rPr dirty="0"/>
              <a:t> </a:t>
            </a:r>
            <a:r>
              <a:rPr dirty="0" err="1"/>
              <a:t>주며</a:t>
            </a:r>
            <a:r>
              <a:rPr dirty="0"/>
              <a:t>, max-</a:t>
            </a:r>
            <a:r>
              <a:rPr dirty="0" err="1"/>
              <a:t>pooling으로</a:t>
            </a:r>
            <a:r>
              <a:rPr dirty="0"/>
              <a:t> </a:t>
            </a:r>
            <a:r>
              <a:rPr dirty="0" err="1"/>
              <a:t>집계해</a:t>
            </a:r>
            <a:r>
              <a:rPr dirty="0"/>
              <a:t> </a:t>
            </a:r>
            <a:r>
              <a:rPr dirty="0" err="1"/>
              <a:t>엔티티당</a:t>
            </a:r>
            <a:r>
              <a:rPr dirty="0"/>
              <a:t> 5개를 </a:t>
            </a:r>
            <a:r>
              <a:rPr dirty="0" err="1"/>
              <a:t>유지합니다</a:t>
            </a:r>
            <a:r>
              <a:rPr dirty="0"/>
              <a:t>.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'</a:t>
            </a:r>
            <a:r>
              <a:rPr dirty="0" err="1"/>
              <a:t>병원</a:t>
            </a:r>
            <a:r>
              <a:rPr dirty="0"/>
              <a:t> EHR </a:t>
            </a:r>
            <a:r>
              <a:rPr dirty="0" err="1"/>
              <a:t>파일'이</a:t>
            </a:r>
            <a:r>
              <a:rPr dirty="0"/>
              <a:t> 'personal data', 'health </a:t>
            </a:r>
            <a:r>
              <a:rPr dirty="0" err="1"/>
              <a:t>data'로</a:t>
            </a:r>
            <a:r>
              <a:rPr dirty="0"/>
              <a:t> </a:t>
            </a:r>
            <a:r>
              <a:rPr dirty="0" err="1"/>
              <a:t>매핑되는</a:t>
            </a:r>
            <a:r>
              <a:rPr dirty="0"/>
              <a:t> </a:t>
            </a:r>
            <a:r>
              <a:rPr dirty="0" err="1"/>
              <a:t>과정이</a:t>
            </a:r>
            <a:r>
              <a:rPr dirty="0"/>
              <a:t> </a:t>
            </a:r>
            <a:r>
              <a:rPr dirty="0" err="1"/>
              <a:t>투명하게</a:t>
            </a:r>
            <a:r>
              <a:rPr dirty="0"/>
              <a:t> </a:t>
            </a:r>
            <a:r>
              <a:rPr dirty="0" err="1"/>
              <a:t>기록됩니다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Compliance </a:t>
            </a:r>
            <a:r>
              <a:rPr dirty="0" err="1"/>
              <a:t>Gate의</a:t>
            </a:r>
            <a:r>
              <a:rPr dirty="0"/>
              <a:t> </a:t>
            </a:r>
            <a:r>
              <a:rPr dirty="0" err="1"/>
              <a:t>전반부</a:t>
            </a:r>
            <a:r>
              <a:rPr dirty="0"/>
              <a:t>,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검색입니다</a:t>
            </a:r>
            <a:r>
              <a:rPr dirty="0"/>
              <a:t>. </a:t>
            </a:r>
            <a:r>
              <a:rPr dirty="0" err="1"/>
              <a:t>먼저</a:t>
            </a:r>
            <a:r>
              <a:rPr dirty="0"/>
              <a:t> Context Graph에서 </a:t>
            </a:r>
            <a:r>
              <a:rPr dirty="0" err="1"/>
              <a:t>행위자·데이터·시스템</a:t>
            </a:r>
            <a:r>
              <a:rPr dirty="0"/>
              <a:t> </a:t>
            </a:r>
            <a:r>
              <a:rPr dirty="0" err="1"/>
              <a:t>중심의</a:t>
            </a:r>
            <a:r>
              <a:rPr dirty="0"/>
              <a:t> </a:t>
            </a:r>
            <a:r>
              <a:rPr dirty="0" err="1"/>
              <a:t>anchor를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anchor에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3-파트 bi-encoder </a:t>
            </a:r>
            <a:r>
              <a:rPr dirty="0" err="1"/>
              <a:t>점수로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</a:t>
            </a:r>
            <a:r>
              <a:rPr dirty="0" err="1"/>
              <a:t>CU를</a:t>
            </a:r>
            <a:r>
              <a:rPr dirty="0"/>
              <a:t> </a:t>
            </a:r>
            <a:r>
              <a:rPr dirty="0" err="1"/>
              <a:t>넓게</a:t>
            </a:r>
            <a:r>
              <a:rPr dirty="0"/>
              <a:t> </a:t>
            </a:r>
            <a:r>
              <a:rPr dirty="0" err="1"/>
              <a:t>추린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, cross-</a:t>
            </a:r>
            <a:r>
              <a:rPr dirty="0" err="1"/>
              <a:t>encoder로</a:t>
            </a:r>
            <a:r>
              <a:rPr dirty="0"/>
              <a:t> </a:t>
            </a:r>
            <a:r>
              <a:rPr dirty="0" err="1"/>
              <a:t>재정렬해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CU </a:t>
            </a:r>
            <a:r>
              <a:rPr dirty="0" err="1"/>
              <a:t>Plan을</a:t>
            </a:r>
            <a:r>
              <a:rPr dirty="0"/>
              <a:t> </a:t>
            </a:r>
            <a:r>
              <a:rPr dirty="0" err="1"/>
              <a:t>만듭니다</a:t>
            </a:r>
            <a:r>
              <a:rPr dirty="0"/>
              <a:t>.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RAG의</a:t>
            </a:r>
            <a:r>
              <a:rPr dirty="0"/>
              <a:t> </a:t>
            </a:r>
            <a:r>
              <a:rPr dirty="0" err="1"/>
              <a:t>쿼리-문서</a:t>
            </a:r>
            <a:r>
              <a:rPr dirty="0"/>
              <a:t> </a:t>
            </a:r>
            <a:r>
              <a:rPr dirty="0" err="1"/>
              <a:t>유사도가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anchor와</a:t>
            </a:r>
            <a:r>
              <a:rPr dirty="0"/>
              <a:t> </a:t>
            </a:r>
            <a:r>
              <a:rPr dirty="0" err="1"/>
              <a:t>규범</a:t>
            </a:r>
            <a:r>
              <a:rPr dirty="0"/>
              <a:t> </a:t>
            </a:r>
            <a:r>
              <a:rPr dirty="0" err="1"/>
              <a:t>subject의</a:t>
            </a:r>
            <a:r>
              <a:rPr dirty="0"/>
              <a:t> </a:t>
            </a:r>
            <a:r>
              <a:rPr dirty="0" err="1"/>
              <a:t>정렬이라는</a:t>
            </a:r>
            <a:r>
              <a:rPr dirty="0"/>
              <a:t> </a:t>
            </a:r>
            <a:r>
              <a:rPr dirty="0" err="1"/>
              <a:t>점입니다</a:t>
            </a:r>
            <a:r>
              <a:rPr dirty="0"/>
              <a:t>. </a:t>
            </a:r>
            <a:r>
              <a:rPr dirty="0" err="1"/>
              <a:t>덕분에</a:t>
            </a:r>
            <a:r>
              <a:rPr dirty="0"/>
              <a:t> </a:t>
            </a:r>
            <a:r>
              <a:rPr dirty="0" err="1"/>
              <a:t>LLM은</a:t>
            </a:r>
            <a:r>
              <a:rPr dirty="0"/>
              <a:t> '이 </a:t>
            </a:r>
            <a:r>
              <a:rPr dirty="0" err="1"/>
              <a:t>행위자에</a:t>
            </a:r>
            <a:r>
              <a:rPr dirty="0"/>
              <a:t> 이 </a:t>
            </a:r>
            <a:r>
              <a:rPr dirty="0" err="1"/>
              <a:t>규칙들이</a:t>
            </a:r>
            <a:r>
              <a:rPr dirty="0"/>
              <a:t> </a:t>
            </a:r>
            <a:r>
              <a:rPr dirty="0" err="1"/>
              <a:t>적용되는가'라는</a:t>
            </a:r>
            <a:r>
              <a:rPr dirty="0"/>
              <a:t> </a:t>
            </a:r>
            <a:r>
              <a:rPr dirty="0" err="1"/>
              <a:t>한정된</a:t>
            </a:r>
            <a:r>
              <a:rPr dirty="0"/>
              <a:t> </a:t>
            </a:r>
            <a:r>
              <a:rPr dirty="0" err="1"/>
              <a:t>문제만</a:t>
            </a:r>
            <a:r>
              <a:rPr dirty="0"/>
              <a:t> </a:t>
            </a:r>
            <a:r>
              <a:rPr dirty="0" err="1"/>
              <a:t>받게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후반부입니다</a:t>
            </a:r>
            <a:r>
              <a:rPr dirty="0"/>
              <a:t>. </a:t>
            </a:r>
            <a:r>
              <a:rPr dirty="0" err="1"/>
              <a:t>판단은</a:t>
            </a:r>
            <a:r>
              <a:rPr dirty="0"/>
              <a:t> </a:t>
            </a:r>
            <a:r>
              <a:rPr dirty="0" err="1"/>
              <a:t>listwise로</a:t>
            </a:r>
            <a:r>
              <a:rPr dirty="0"/>
              <a:t> </a:t>
            </a:r>
            <a:r>
              <a:rPr dirty="0" err="1"/>
              <a:t>이루어집니다</a:t>
            </a:r>
            <a:r>
              <a:rPr dirty="0"/>
              <a:t>. anchor </a:t>
            </a:r>
            <a:r>
              <a:rPr dirty="0" err="1"/>
              <a:t>주변</a:t>
            </a:r>
            <a:r>
              <a:rPr dirty="0"/>
              <a:t> </a:t>
            </a:r>
            <a:r>
              <a:rPr dirty="0" err="1"/>
              <a:t>부분그래프인</a:t>
            </a:r>
            <a:r>
              <a:rPr dirty="0"/>
              <a:t> evidence </a:t>
            </a:r>
            <a:r>
              <a:rPr dirty="0" err="1"/>
              <a:t>window와</a:t>
            </a:r>
            <a:r>
              <a:rPr dirty="0"/>
              <a:t> CU Plan </a:t>
            </a:r>
            <a:r>
              <a:rPr dirty="0" err="1"/>
              <a:t>전체를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번에</a:t>
            </a:r>
            <a:r>
              <a:rPr dirty="0"/>
              <a:t> </a:t>
            </a:r>
            <a:r>
              <a:rPr dirty="0" err="1"/>
              <a:t>주고</a:t>
            </a:r>
            <a:r>
              <a:rPr dirty="0"/>
              <a:t>, </a:t>
            </a:r>
            <a:r>
              <a:rPr dirty="0" err="1"/>
              <a:t>규칙</a:t>
            </a:r>
            <a:r>
              <a:rPr dirty="0"/>
              <a:t> </a:t>
            </a:r>
            <a:r>
              <a:rPr dirty="0" err="1"/>
              <a:t>간</a:t>
            </a:r>
            <a:r>
              <a:rPr dirty="0"/>
              <a:t> </a:t>
            </a:r>
            <a:r>
              <a:rPr dirty="0" err="1"/>
              <a:t>관계를</a:t>
            </a:r>
            <a:r>
              <a:rPr dirty="0"/>
              <a:t> </a:t>
            </a:r>
            <a:r>
              <a:rPr dirty="0" err="1"/>
              <a:t>고려해</a:t>
            </a:r>
            <a:r>
              <a:rPr dirty="0"/>
              <a:t> </a:t>
            </a:r>
            <a:r>
              <a:rPr dirty="0" err="1"/>
              <a:t>CU별</a:t>
            </a:r>
            <a:r>
              <a:rPr dirty="0"/>
              <a:t> </a:t>
            </a:r>
            <a:r>
              <a:rPr dirty="0" err="1"/>
              <a:t>라벨·확신도·근거를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출력하게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프롬프트는</a:t>
            </a:r>
            <a:r>
              <a:rPr dirty="0"/>
              <a:t> </a:t>
            </a:r>
            <a:r>
              <a:rPr dirty="0" err="1"/>
              <a:t>침묵으로부터의</a:t>
            </a:r>
            <a:r>
              <a:rPr dirty="0"/>
              <a:t> </a:t>
            </a:r>
            <a:r>
              <a:rPr dirty="0" err="1"/>
              <a:t>추론을</a:t>
            </a:r>
            <a:r>
              <a:rPr dirty="0"/>
              <a:t> </a:t>
            </a:r>
            <a:r>
              <a:rPr dirty="0" err="1"/>
              <a:t>금지해</a:t>
            </a:r>
            <a:r>
              <a:rPr dirty="0"/>
              <a:t> </a:t>
            </a:r>
            <a:r>
              <a:rPr dirty="0" err="1"/>
              <a:t>과잉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억제합니다</a:t>
            </a:r>
            <a:r>
              <a:rPr dirty="0"/>
              <a:t>. </a:t>
            </a:r>
            <a:r>
              <a:rPr dirty="0" err="1"/>
              <a:t>위반으로</a:t>
            </a:r>
            <a:r>
              <a:rPr dirty="0"/>
              <a:t> </a:t>
            </a:r>
            <a:r>
              <a:rPr dirty="0" err="1"/>
              <a:t>판정된</a:t>
            </a:r>
            <a:r>
              <a:rPr dirty="0"/>
              <a:t> </a:t>
            </a:r>
            <a:r>
              <a:rPr dirty="0" err="1"/>
              <a:t>CU에는</a:t>
            </a:r>
            <a:r>
              <a:rPr dirty="0"/>
              <a:t> </a:t>
            </a:r>
            <a:r>
              <a:rPr dirty="0" err="1"/>
              <a:t>참조</a:t>
            </a:r>
            <a:r>
              <a:rPr dirty="0"/>
              <a:t> </a:t>
            </a:r>
            <a:r>
              <a:rPr dirty="0" err="1"/>
              <a:t>폐포를</a:t>
            </a:r>
            <a:r>
              <a:rPr dirty="0"/>
              <a:t> </a:t>
            </a:r>
            <a:r>
              <a:rPr dirty="0" err="1"/>
              <a:t>계산해</a:t>
            </a:r>
            <a:r>
              <a:rPr dirty="0"/>
              <a:t>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조항이</a:t>
            </a:r>
            <a:r>
              <a:rPr dirty="0"/>
              <a:t> </a:t>
            </a:r>
            <a:r>
              <a:rPr dirty="0" err="1"/>
              <a:t>성립하는지</a:t>
            </a:r>
            <a:r>
              <a:rPr dirty="0"/>
              <a:t> 2차 </a:t>
            </a:r>
            <a:r>
              <a:rPr dirty="0" err="1"/>
              <a:t>호출로</a:t>
            </a:r>
            <a:r>
              <a:rPr dirty="0"/>
              <a:t> </a:t>
            </a:r>
            <a:r>
              <a:rPr dirty="0" err="1"/>
              <a:t>확인하고</a:t>
            </a:r>
            <a:r>
              <a:rPr dirty="0"/>
              <a:t>, </a:t>
            </a:r>
            <a:r>
              <a:rPr dirty="0" err="1"/>
              <a:t>성립하면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뒤집습니다</a:t>
            </a:r>
            <a:r>
              <a:rPr dirty="0"/>
              <a:t>. 9조 1항의 </a:t>
            </a:r>
            <a:r>
              <a:rPr dirty="0" err="1"/>
              <a:t>금지가</a:t>
            </a:r>
            <a:r>
              <a:rPr dirty="0"/>
              <a:t> 9조 2항의 </a:t>
            </a:r>
            <a:r>
              <a:rPr dirty="0" err="1"/>
              <a:t>예외로</a:t>
            </a:r>
            <a:r>
              <a:rPr dirty="0"/>
              <a:t> </a:t>
            </a:r>
            <a:r>
              <a:rPr dirty="0" err="1"/>
              <a:t>뒤집히는</a:t>
            </a:r>
            <a:r>
              <a:rPr dirty="0"/>
              <a:t> </a:t>
            </a:r>
            <a:r>
              <a:rPr dirty="0" err="1"/>
              <a:t>식의</a:t>
            </a:r>
            <a:r>
              <a:rPr dirty="0"/>
              <a:t> defeasible </a:t>
            </a:r>
            <a:r>
              <a:rPr dirty="0" err="1"/>
              <a:t>추론을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순회로</a:t>
            </a:r>
            <a:r>
              <a:rPr dirty="0"/>
              <a:t> </a:t>
            </a:r>
            <a:r>
              <a:rPr dirty="0" err="1"/>
              <a:t>구현한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 </a:t>
            </a:r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조항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violation-first </a:t>
            </a:r>
            <a:r>
              <a:rPr dirty="0" err="1"/>
              <a:t>집계를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설정입니다</a:t>
            </a:r>
            <a:r>
              <a:rPr dirty="0"/>
              <a:t>. </a:t>
            </a:r>
            <a:r>
              <a:rPr dirty="0" err="1"/>
              <a:t>고품질</a:t>
            </a:r>
            <a:r>
              <a:rPr dirty="0"/>
              <a:t> </a:t>
            </a:r>
            <a:r>
              <a:rPr dirty="0" err="1"/>
              <a:t>위반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 </a:t>
            </a:r>
            <a:r>
              <a:rPr dirty="0" err="1"/>
              <a:t>데이터가</a:t>
            </a:r>
            <a:r>
              <a:rPr dirty="0"/>
              <a:t> </a:t>
            </a:r>
            <a:r>
              <a:rPr dirty="0" err="1"/>
              <a:t>기밀성</a:t>
            </a:r>
            <a:r>
              <a:rPr dirty="0"/>
              <a:t> </a:t>
            </a:r>
            <a:r>
              <a:rPr dirty="0" err="1"/>
              <a:t>문제로</a:t>
            </a:r>
            <a:r>
              <a:rPr dirty="0"/>
              <a:t> </a:t>
            </a:r>
            <a:r>
              <a:rPr dirty="0" err="1"/>
              <a:t>희소하기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, </a:t>
            </a:r>
            <a:r>
              <a:rPr dirty="0" err="1"/>
              <a:t>저자들은</a:t>
            </a:r>
            <a:r>
              <a:rPr dirty="0"/>
              <a:t>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집행</a:t>
            </a:r>
            <a:r>
              <a:rPr dirty="0"/>
              <a:t> </a:t>
            </a:r>
            <a:r>
              <a:rPr dirty="0" err="1"/>
              <a:t>결정과</a:t>
            </a:r>
            <a:r>
              <a:rPr dirty="0"/>
              <a:t> </a:t>
            </a:r>
            <a:r>
              <a:rPr dirty="0" err="1"/>
              <a:t>가이드라인에</a:t>
            </a:r>
            <a:r>
              <a:rPr dirty="0"/>
              <a:t> </a:t>
            </a:r>
            <a:r>
              <a:rPr dirty="0" err="1"/>
              <a:t>근거한</a:t>
            </a:r>
            <a:r>
              <a:rPr dirty="0"/>
              <a:t> 300개 </a:t>
            </a:r>
            <a:r>
              <a:rPr dirty="0" err="1"/>
              <a:t>시나리오</a:t>
            </a:r>
            <a:r>
              <a:rPr dirty="0"/>
              <a:t> </a:t>
            </a:r>
            <a:r>
              <a:rPr dirty="0" err="1"/>
              <a:t>벤치마크</a:t>
            </a:r>
            <a:r>
              <a:rPr dirty="0"/>
              <a:t> GCS-300을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구축했습니다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연구윤리를</a:t>
            </a:r>
            <a:r>
              <a:rPr dirty="0"/>
              <a:t> </a:t>
            </a:r>
            <a:r>
              <a:rPr dirty="0" err="1"/>
              <a:t>이유로</a:t>
            </a:r>
            <a:r>
              <a:rPr dirty="0"/>
              <a:t> </a:t>
            </a:r>
            <a:r>
              <a:rPr dirty="0" err="1"/>
              <a:t>데이터셋</a:t>
            </a:r>
            <a:r>
              <a:rPr dirty="0"/>
              <a:t> </a:t>
            </a:r>
            <a:r>
              <a:rPr dirty="0" err="1"/>
              <a:t>자체는</a:t>
            </a:r>
            <a:r>
              <a:rPr dirty="0"/>
              <a:t> </a:t>
            </a:r>
            <a:r>
              <a:rPr dirty="0" err="1"/>
              <a:t>비공개이고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 </a:t>
            </a:r>
            <a:r>
              <a:rPr dirty="0" err="1"/>
              <a:t>프로토콜만</a:t>
            </a:r>
            <a:r>
              <a:rPr dirty="0"/>
              <a:t> </a:t>
            </a:r>
            <a:r>
              <a:rPr dirty="0" err="1"/>
              <a:t>공개됩니다</a:t>
            </a:r>
            <a:r>
              <a:rPr dirty="0"/>
              <a:t> — 이 </a:t>
            </a:r>
            <a:r>
              <a:rPr dirty="0" err="1"/>
              <a:t>부분은</a:t>
            </a:r>
            <a:r>
              <a:rPr dirty="0"/>
              <a:t> </a:t>
            </a:r>
            <a:r>
              <a:rPr dirty="0" err="1"/>
              <a:t>뒤에서</a:t>
            </a:r>
            <a:r>
              <a:rPr dirty="0"/>
              <a:t> </a:t>
            </a:r>
            <a:r>
              <a:rPr dirty="0" err="1"/>
              <a:t>한계로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언급하겠습니다</a:t>
            </a:r>
            <a:r>
              <a:rPr dirty="0"/>
              <a:t>. </a:t>
            </a:r>
            <a:r>
              <a:rPr dirty="0" err="1"/>
              <a:t>베이스라인은</a:t>
            </a:r>
            <a:r>
              <a:rPr dirty="0"/>
              <a:t> Raw LLM, RAG, </a:t>
            </a:r>
            <a:r>
              <a:rPr dirty="0" err="1"/>
              <a:t>GraphRAG에</a:t>
            </a:r>
            <a:r>
              <a:rPr dirty="0"/>
              <a:t> </a:t>
            </a:r>
            <a:r>
              <a:rPr dirty="0" err="1"/>
              <a:t>법률</a:t>
            </a:r>
            <a:r>
              <a:rPr dirty="0"/>
              <a:t> </a:t>
            </a:r>
            <a:r>
              <a:rPr dirty="0" err="1"/>
              <a:t>특화</a:t>
            </a:r>
            <a:r>
              <a:rPr dirty="0"/>
              <a:t> </a:t>
            </a:r>
            <a:r>
              <a:rPr dirty="0" err="1"/>
              <a:t>모델까지</a:t>
            </a:r>
            <a:r>
              <a:rPr dirty="0"/>
              <a:t> </a:t>
            </a:r>
            <a:r>
              <a:rPr dirty="0" err="1"/>
              <a:t>포함하고</a:t>
            </a:r>
            <a:r>
              <a:rPr dirty="0"/>
              <a:t>, </a:t>
            </a:r>
            <a:r>
              <a:rPr dirty="0" err="1"/>
              <a:t>지표로는</a:t>
            </a:r>
            <a:r>
              <a:rPr dirty="0"/>
              <a:t> F1 </a:t>
            </a:r>
            <a:r>
              <a:rPr dirty="0" err="1"/>
              <a:t>외에</a:t>
            </a:r>
            <a:r>
              <a:rPr dirty="0"/>
              <a:t> </a:t>
            </a:r>
            <a:r>
              <a:rPr dirty="0" err="1"/>
              <a:t>recall을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배</a:t>
            </a:r>
            <a:r>
              <a:rPr dirty="0"/>
              <a:t> </a:t>
            </a:r>
            <a:r>
              <a:rPr dirty="0" err="1"/>
              <a:t>가중하는</a:t>
            </a:r>
            <a:r>
              <a:rPr dirty="0"/>
              <a:t> F2와 MCC, </a:t>
            </a:r>
            <a:r>
              <a:rPr dirty="0" err="1"/>
              <a:t>그리고</a:t>
            </a:r>
            <a:r>
              <a:rPr dirty="0"/>
              <a:t> LLM </a:t>
            </a:r>
            <a:r>
              <a:rPr dirty="0" err="1"/>
              <a:t>평가자</a:t>
            </a:r>
            <a:r>
              <a:rPr dirty="0"/>
              <a:t> </a:t>
            </a:r>
            <a:r>
              <a:rPr dirty="0" err="1"/>
              <a:t>점수를</a:t>
            </a:r>
            <a:r>
              <a:rPr dirty="0"/>
              <a:t> </a:t>
            </a:r>
            <a:r>
              <a:rPr dirty="0" err="1"/>
              <a:t>씁니다</a:t>
            </a:r>
            <a:r>
              <a:rPr dirty="0"/>
              <a:t>.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개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순서로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보겠습니다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RQ1, </a:t>
            </a:r>
            <a:r>
              <a:rPr dirty="0" err="1"/>
              <a:t>정확도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</a:t>
            </a:r>
            <a:r>
              <a:rPr dirty="0" err="1"/>
              <a:t>차트는</a:t>
            </a:r>
            <a:r>
              <a:rPr dirty="0"/>
              <a:t> </a:t>
            </a:r>
            <a:r>
              <a:rPr dirty="0" err="1"/>
              <a:t>모델별</a:t>
            </a:r>
            <a:r>
              <a:rPr dirty="0"/>
              <a:t> micro-F1입니다. </a:t>
            </a:r>
            <a:r>
              <a:rPr dirty="0" err="1"/>
              <a:t>GraphCompliance는</a:t>
            </a:r>
            <a:r>
              <a:rPr dirty="0"/>
              <a:t> GPT-4o에서 51.7, GPT-4.1에서 55.4, GPT-5-thinking에서 57.1로,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모델에서</a:t>
            </a:r>
            <a:r>
              <a:rPr dirty="0"/>
              <a:t> Raw </a:t>
            </a:r>
            <a:r>
              <a:rPr dirty="0" err="1"/>
              <a:t>LLM과</a:t>
            </a:r>
            <a:r>
              <a:rPr dirty="0"/>
              <a:t> </a:t>
            </a:r>
            <a:r>
              <a:rPr dirty="0" err="1"/>
              <a:t>RAG를</a:t>
            </a:r>
            <a:r>
              <a:rPr dirty="0"/>
              <a:t> 4.1에서 7.2%p </a:t>
            </a:r>
            <a:r>
              <a:rPr dirty="0" err="1"/>
              <a:t>앞섭니다</a:t>
            </a:r>
            <a:r>
              <a:rPr dirty="0"/>
              <a:t>. </a:t>
            </a:r>
            <a:r>
              <a:rPr dirty="0" err="1"/>
              <a:t>특히</a:t>
            </a:r>
            <a:r>
              <a:rPr dirty="0"/>
              <a:t> </a:t>
            </a:r>
            <a:r>
              <a:rPr dirty="0" err="1"/>
              <a:t>recall을</a:t>
            </a:r>
            <a:r>
              <a:rPr dirty="0"/>
              <a:t> </a:t>
            </a:r>
            <a:r>
              <a:rPr dirty="0" err="1"/>
              <a:t>가중하는</a:t>
            </a:r>
            <a:r>
              <a:rPr dirty="0"/>
              <a:t> F2에서 12~20%p로 </a:t>
            </a:r>
            <a:r>
              <a:rPr dirty="0" err="1"/>
              <a:t>격차가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벌어지는데</a:t>
            </a:r>
            <a:r>
              <a:rPr dirty="0"/>
              <a:t>, </a:t>
            </a:r>
            <a:r>
              <a:rPr dirty="0" err="1"/>
              <a:t>이는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위반을</a:t>
            </a:r>
            <a:r>
              <a:rPr dirty="0"/>
              <a:t> </a:t>
            </a:r>
            <a:r>
              <a:rPr dirty="0" err="1"/>
              <a:t>놓치는</a:t>
            </a:r>
            <a:r>
              <a:rPr dirty="0"/>
              <a:t> </a:t>
            </a:r>
            <a:r>
              <a:rPr dirty="0" err="1"/>
              <a:t>비율이</a:t>
            </a:r>
            <a:r>
              <a:rPr dirty="0"/>
              <a:t> </a:t>
            </a:r>
            <a:r>
              <a:rPr dirty="0" err="1"/>
              <a:t>크게</a:t>
            </a:r>
            <a:r>
              <a:rPr dirty="0"/>
              <a:t> </a:t>
            </a:r>
            <a:r>
              <a:rPr dirty="0" err="1"/>
              <a:t>줄었다는</a:t>
            </a:r>
            <a:r>
              <a:rPr dirty="0"/>
              <a:t> </a:t>
            </a:r>
            <a:r>
              <a:rPr dirty="0" err="1"/>
              <a:t>뜻입니다</a:t>
            </a:r>
            <a:r>
              <a:rPr dirty="0"/>
              <a:t>. </a:t>
            </a:r>
            <a:r>
              <a:rPr dirty="0" err="1"/>
              <a:t>주목할</a:t>
            </a:r>
            <a:r>
              <a:rPr dirty="0"/>
              <a:t> </a:t>
            </a:r>
            <a:r>
              <a:rPr dirty="0" err="1"/>
              <a:t>점은</a:t>
            </a:r>
            <a:r>
              <a:rPr dirty="0"/>
              <a:t> </a:t>
            </a:r>
            <a:r>
              <a:rPr dirty="0" err="1"/>
              <a:t>GraphRAG가</a:t>
            </a:r>
            <a:r>
              <a:rPr dirty="0"/>
              <a:t> RAG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이득이</a:t>
            </a:r>
            <a:r>
              <a:rPr dirty="0"/>
              <a:t> </a:t>
            </a:r>
            <a:r>
              <a:rPr dirty="0" err="1"/>
              <a:t>없다는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그래프라도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보조로</a:t>
            </a:r>
            <a:r>
              <a:rPr dirty="0"/>
              <a:t> </a:t>
            </a:r>
            <a:r>
              <a:rPr dirty="0" err="1"/>
              <a:t>쓰면</a:t>
            </a:r>
            <a:r>
              <a:rPr dirty="0"/>
              <a:t> </a:t>
            </a:r>
            <a:r>
              <a:rPr dirty="0" err="1"/>
              <a:t>효과가</a:t>
            </a:r>
            <a:r>
              <a:rPr dirty="0"/>
              <a:t> </a:t>
            </a:r>
            <a:r>
              <a:rPr dirty="0" err="1"/>
              <a:t>없고</a:t>
            </a:r>
            <a:r>
              <a:rPr dirty="0"/>
              <a:t>, </a:t>
            </a:r>
            <a:r>
              <a:rPr dirty="0" err="1"/>
              <a:t>추론을</a:t>
            </a:r>
            <a:r>
              <a:rPr dirty="0"/>
              <a:t> </a:t>
            </a:r>
            <a:r>
              <a:rPr dirty="0" err="1"/>
              <a:t>구조화하는</a:t>
            </a:r>
            <a:r>
              <a:rPr dirty="0"/>
              <a:t> </a:t>
            </a:r>
            <a:r>
              <a:rPr dirty="0" err="1"/>
              <a:t>데</a:t>
            </a:r>
            <a:r>
              <a:rPr dirty="0"/>
              <a:t> </a:t>
            </a:r>
            <a:r>
              <a:rPr dirty="0" err="1"/>
              <a:t>써야</a:t>
            </a:r>
            <a:r>
              <a:rPr dirty="0"/>
              <a:t> </a:t>
            </a:r>
            <a:r>
              <a:rPr dirty="0" err="1"/>
              <a:t>효과가</a:t>
            </a:r>
            <a:r>
              <a:rPr dirty="0"/>
              <a:t> </a:t>
            </a:r>
            <a:r>
              <a:rPr dirty="0" err="1"/>
              <a:t>있다는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</a:t>
            </a:r>
            <a:r>
              <a:rPr dirty="0" err="1"/>
              <a:t>주장의</a:t>
            </a:r>
            <a:r>
              <a:rPr dirty="0"/>
              <a:t> </a:t>
            </a:r>
            <a:r>
              <a:rPr dirty="0" err="1"/>
              <a:t>직접적</a:t>
            </a:r>
            <a:r>
              <a:rPr dirty="0"/>
              <a:t> </a:t>
            </a:r>
            <a:r>
              <a:rPr dirty="0" err="1"/>
              <a:t>근거입니다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RQ2, </a:t>
            </a:r>
            <a:r>
              <a:rPr dirty="0" err="1"/>
              <a:t>ablation입니다</a:t>
            </a:r>
            <a:r>
              <a:rPr dirty="0"/>
              <a:t>. </a:t>
            </a:r>
            <a:r>
              <a:rPr dirty="0" err="1"/>
              <a:t>모듈을</a:t>
            </a:r>
            <a:r>
              <a:rPr dirty="0"/>
              <a:t> </a:t>
            </a:r>
            <a:r>
              <a:rPr dirty="0" err="1"/>
              <a:t>하나씩</a:t>
            </a:r>
            <a:r>
              <a:rPr dirty="0"/>
              <a:t> </a:t>
            </a:r>
            <a:r>
              <a:rPr dirty="0" err="1"/>
              <a:t>제거하며</a:t>
            </a:r>
            <a:r>
              <a:rPr dirty="0"/>
              <a:t> </a:t>
            </a:r>
            <a:r>
              <a:rPr dirty="0" err="1"/>
              <a:t>기여도를</a:t>
            </a:r>
            <a:r>
              <a:rPr dirty="0"/>
              <a:t> </a:t>
            </a:r>
            <a:r>
              <a:rPr dirty="0" err="1"/>
              <a:t>측정했습니다</a:t>
            </a:r>
            <a:r>
              <a:rPr dirty="0"/>
              <a:t>.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하락은</a:t>
            </a:r>
            <a:r>
              <a:rPr dirty="0"/>
              <a:t> Context Graph를 </a:t>
            </a:r>
            <a:r>
              <a:rPr dirty="0" err="1"/>
              <a:t>원문</a:t>
            </a:r>
            <a:r>
              <a:rPr dirty="0"/>
              <a:t> </a:t>
            </a:r>
            <a:r>
              <a:rPr dirty="0" err="1"/>
              <a:t>텍스트로</a:t>
            </a:r>
            <a:r>
              <a:rPr dirty="0"/>
              <a:t> </a:t>
            </a:r>
            <a:r>
              <a:rPr dirty="0" err="1"/>
              <a:t>대체했을</a:t>
            </a:r>
            <a:r>
              <a:rPr dirty="0"/>
              <a:t> </a:t>
            </a:r>
            <a:r>
              <a:rPr dirty="0" err="1"/>
              <a:t>때의</a:t>
            </a:r>
            <a:r>
              <a:rPr dirty="0"/>
              <a:t> −10.2%p입니다. </a:t>
            </a:r>
            <a:r>
              <a:rPr dirty="0" err="1"/>
              <a:t>부분그래프</a:t>
            </a:r>
            <a:r>
              <a:rPr dirty="0"/>
              <a:t> </a:t>
            </a:r>
            <a:r>
              <a:rPr dirty="0" err="1"/>
              <a:t>anchoring이</a:t>
            </a:r>
            <a:r>
              <a:rPr dirty="0"/>
              <a:t> </a:t>
            </a:r>
            <a:r>
              <a:rPr dirty="0" err="1"/>
              <a:t>엔티티와</a:t>
            </a:r>
            <a:r>
              <a:rPr dirty="0"/>
              <a:t> </a:t>
            </a:r>
            <a:r>
              <a:rPr dirty="0" err="1"/>
              <a:t>행위를</a:t>
            </a:r>
            <a:r>
              <a:rPr dirty="0"/>
              <a:t> </a:t>
            </a:r>
            <a:r>
              <a:rPr dirty="0" err="1"/>
              <a:t>분리해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효과가</a:t>
            </a:r>
            <a:r>
              <a:rPr dirty="0"/>
              <a:t> </a:t>
            </a:r>
            <a:r>
              <a:rPr dirty="0" err="1"/>
              <a:t>사라지면서</a:t>
            </a:r>
            <a:r>
              <a:rPr dirty="0"/>
              <a:t> </a:t>
            </a:r>
            <a:r>
              <a:rPr dirty="0" err="1"/>
              <a:t>recall이</a:t>
            </a:r>
            <a:r>
              <a:rPr dirty="0"/>
              <a:t> </a:t>
            </a:r>
            <a:r>
              <a:rPr dirty="0" err="1"/>
              <a:t>급락합니다</a:t>
            </a:r>
            <a:r>
              <a:rPr dirty="0"/>
              <a:t>. </a:t>
            </a:r>
            <a:r>
              <a:rPr dirty="0" err="1"/>
              <a:t>참조</a:t>
            </a:r>
            <a:r>
              <a:rPr dirty="0"/>
              <a:t> </a:t>
            </a:r>
            <a:r>
              <a:rPr dirty="0" err="1"/>
              <a:t>순회</a:t>
            </a:r>
            <a:r>
              <a:rPr dirty="0"/>
              <a:t> </a:t>
            </a:r>
            <a:r>
              <a:rPr dirty="0" err="1"/>
              <a:t>제거도</a:t>
            </a:r>
            <a:r>
              <a:rPr dirty="0"/>
              <a:t> −9.6%p로 </a:t>
            </a:r>
            <a:r>
              <a:rPr dirty="0" err="1"/>
              <a:t>큰데</a:t>
            </a:r>
            <a:r>
              <a:rPr dirty="0"/>
              <a:t>, </a:t>
            </a:r>
            <a:r>
              <a:rPr dirty="0" err="1"/>
              <a:t>GDPR처럼</a:t>
            </a:r>
            <a:r>
              <a:rPr dirty="0"/>
              <a:t> </a:t>
            </a:r>
            <a:r>
              <a:rPr dirty="0" err="1"/>
              <a:t>참조가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규제에서</a:t>
            </a:r>
            <a:r>
              <a:rPr dirty="0"/>
              <a:t> </a:t>
            </a:r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결과입니다</a:t>
            </a:r>
            <a:r>
              <a:rPr dirty="0"/>
              <a:t>. </a:t>
            </a:r>
            <a:r>
              <a:rPr dirty="0" err="1"/>
              <a:t>흥미로운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S3입니다.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그래프를</a:t>
            </a:r>
            <a:r>
              <a:rPr dirty="0"/>
              <a:t> </a:t>
            </a:r>
            <a:r>
              <a:rPr dirty="0" err="1"/>
              <a:t>통째로</a:t>
            </a:r>
            <a:r>
              <a:rPr dirty="0"/>
              <a:t> </a:t>
            </a:r>
            <a:r>
              <a:rPr dirty="0" err="1"/>
              <a:t>텍스트로</a:t>
            </a:r>
            <a:r>
              <a:rPr dirty="0"/>
              <a:t> </a:t>
            </a:r>
            <a:r>
              <a:rPr dirty="0" err="1"/>
              <a:t>넣어도</a:t>
            </a:r>
            <a:r>
              <a:rPr dirty="0"/>
              <a:t> </a:t>
            </a:r>
            <a:r>
              <a:rPr dirty="0" err="1"/>
              <a:t>anchoring이</a:t>
            </a:r>
            <a:r>
              <a:rPr dirty="0"/>
              <a:t> </a:t>
            </a:r>
            <a:r>
              <a:rPr dirty="0" err="1"/>
              <a:t>없으면</a:t>
            </a:r>
            <a:r>
              <a:rPr dirty="0"/>
              <a:t> −8.1%p로, </a:t>
            </a:r>
            <a:r>
              <a:rPr dirty="0" err="1"/>
              <a:t>정보가</a:t>
            </a:r>
            <a:r>
              <a:rPr dirty="0"/>
              <a:t> </a:t>
            </a:r>
            <a:r>
              <a:rPr dirty="0" err="1"/>
              <a:t>많다고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게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선별된</a:t>
            </a:r>
            <a:r>
              <a:rPr dirty="0"/>
              <a:t> </a:t>
            </a:r>
            <a:r>
              <a:rPr dirty="0" err="1"/>
              <a:t>구조가</a:t>
            </a:r>
            <a:r>
              <a:rPr dirty="0"/>
              <a:t> </a:t>
            </a:r>
            <a:r>
              <a:rPr dirty="0" err="1"/>
              <a:t>핵심임을</a:t>
            </a:r>
            <a:r>
              <a:rPr dirty="0"/>
              <a:t> </a:t>
            </a:r>
            <a:r>
              <a:rPr dirty="0" err="1"/>
              <a:t>보여줍니다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나머지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질문은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신뢰성을</a:t>
            </a:r>
            <a:r>
              <a:rPr dirty="0"/>
              <a:t> </a:t>
            </a:r>
            <a:r>
              <a:rPr dirty="0" err="1"/>
              <a:t>뒷받침합니다</a:t>
            </a:r>
            <a:r>
              <a:rPr dirty="0"/>
              <a:t>. RQ3는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산물인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자체의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검증입니다</a:t>
            </a:r>
            <a:r>
              <a:rPr dirty="0"/>
              <a:t>. </a:t>
            </a:r>
            <a:r>
              <a:rPr dirty="0" err="1"/>
              <a:t>골드</a:t>
            </a:r>
            <a:r>
              <a:rPr dirty="0"/>
              <a:t> </a:t>
            </a:r>
            <a:r>
              <a:rPr dirty="0" err="1"/>
              <a:t>그래프가</a:t>
            </a:r>
            <a:r>
              <a:rPr dirty="0"/>
              <a:t> </a:t>
            </a:r>
            <a:r>
              <a:rPr dirty="0" err="1"/>
              <a:t>없으므로</a:t>
            </a:r>
            <a:r>
              <a:rPr dirty="0"/>
              <a:t> </a:t>
            </a:r>
            <a:r>
              <a:rPr dirty="0" err="1"/>
              <a:t>텍스트-그래프</a:t>
            </a:r>
            <a:r>
              <a:rPr dirty="0"/>
              <a:t> </a:t>
            </a:r>
            <a:r>
              <a:rPr dirty="0" err="1"/>
              <a:t>왕복</a:t>
            </a:r>
            <a:r>
              <a:rPr dirty="0"/>
              <a:t> </a:t>
            </a:r>
            <a:r>
              <a:rPr dirty="0" err="1"/>
              <a:t>변환의</a:t>
            </a:r>
            <a:r>
              <a:rPr dirty="0"/>
              <a:t> cycle-</a:t>
            </a:r>
            <a:r>
              <a:rPr dirty="0" err="1"/>
              <a:t>consistency를</a:t>
            </a:r>
            <a:r>
              <a:rPr dirty="0"/>
              <a:t> </a:t>
            </a:r>
            <a:r>
              <a:rPr dirty="0" err="1"/>
              <a:t>측정했고</a:t>
            </a:r>
            <a:r>
              <a:rPr dirty="0"/>
              <a:t>, 5회 </a:t>
            </a:r>
            <a:r>
              <a:rPr dirty="0" err="1"/>
              <a:t>반복에도</a:t>
            </a:r>
            <a:r>
              <a:rPr dirty="0"/>
              <a:t>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유사도가</a:t>
            </a:r>
            <a:r>
              <a:rPr dirty="0"/>
              <a:t> </a:t>
            </a:r>
            <a:r>
              <a:rPr dirty="0" err="1"/>
              <a:t>안정적으로</a:t>
            </a:r>
            <a:r>
              <a:rPr dirty="0"/>
              <a:t> </a:t>
            </a:r>
            <a:r>
              <a:rPr dirty="0" err="1"/>
              <a:t>유지됐습니다</a:t>
            </a:r>
            <a:r>
              <a:rPr dirty="0"/>
              <a:t>. </a:t>
            </a:r>
            <a:r>
              <a:rPr dirty="0" err="1"/>
              <a:t>노이즈를</a:t>
            </a:r>
            <a:r>
              <a:rPr dirty="0"/>
              <a:t> </a:t>
            </a:r>
            <a:r>
              <a:rPr dirty="0" err="1"/>
              <a:t>주입하면</a:t>
            </a:r>
            <a:r>
              <a:rPr dirty="0"/>
              <a:t> </a:t>
            </a:r>
            <a:r>
              <a:rPr dirty="0" err="1"/>
              <a:t>점수가</a:t>
            </a:r>
            <a:r>
              <a:rPr dirty="0"/>
              <a:t> </a:t>
            </a:r>
            <a:r>
              <a:rPr dirty="0" err="1"/>
              <a:t>민감하게</a:t>
            </a:r>
            <a:r>
              <a:rPr dirty="0"/>
              <a:t> </a:t>
            </a:r>
            <a:r>
              <a:rPr dirty="0" err="1"/>
              <a:t>떨어지므로</a:t>
            </a:r>
            <a:r>
              <a:rPr dirty="0"/>
              <a:t> 이 </a:t>
            </a:r>
            <a:r>
              <a:rPr dirty="0" err="1"/>
              <a:t>지표가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변별력이</a:t>
            </a:r>
            <a:r>
              <a:rPr dirty="0"/>
              <a:t> </a:t>
            </a:r>
            <a:r>
              <a:rPr dirty="0" err="1"/>
              <a:t>있음도</a:t>
            </a:r>
            <a:r>
              <a:rPr dirty="0"/>
              <a:t> </a:t>
            </a:r>
            <a:r>
              <a:rPr dirty="0" err="1"/>
              <a:t>확인했습니다</a:t>
            </a:r>
            <a:r>
              <a:rPr dirty="0"/>
              <a:t>. RQ4에서는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패러프레이즈에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변동</a:t>
            </a:r>
            <a:r>
              <a:rPr dirty="0"/>
              <a:t> </a:t>
            </a:r>
            <a:r>
              <a:rPr dirty="0" err="1"/>
              <a:t>폭이</a:t>
            </a:r>
            <a:r>
              <a:rPr dirty="0"/>
              <a:t> 6.5%p로 </a:t>
            </a:r>
            <a:r>
              <a:rPr dirty="0" err="1"/>
              <a:t>작아</a:t>
            </a:r>
            <a:r>
              <a:rPr dirty="0"/>
              <a:t>, </a:t>
            </a:r>
            <a:r>
              <a:rPr dirty="0" err="1"/>
              <a:t>성능이</a:t>
            </a:r>
            <a:r>
              <a:rPr dirty="0"/>
              <a:t>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프롬프트</a:t>
            </a:r>
            <a:r>
              <a:rPr dirty="0"/>
              <a:t> </a:t>
            </a:r>
            <a:r>
              <a:rPr dirty="0" err="1"/>
              <a:t>튜닝의</a:t>
            </a:r>
            <a:r>
              <a:rPr dirty="0"/>
              <a:t> </a:t>
            </a:r>
            <a:r>
              <a:rPr dirty="0" err="1"/>
              <a:t>산물이</a:t>
            </a:r>
            <a:r>
              <a:rPr dirty="0"/>
              <a:t> </a:t>
            </a:r>
            <a:r>
              <a:rPr dirty="0" err="1"/>
              <a:t>아님을</a:t>
            </a:r>
            <a:r>
              <a:rPr dirty="0"/>
              <a:t> </a:t>
            </a:r>
            <a:r>
              <a:rPr dirty="0" err="1"/>
              <a:t>보였습니다</a:t>
            </a:r>
            <a:r>
              <a:rPr dirty="0"/>
              <a:t>. RQ5의 </a:t>
            </a:r>
            <a:r>
              <a:rPr dirty="0" err="1"/>
              <a:t>챕터별</a:t>
            </a:r>
            <a:r>
              <a:rPr dirty="0"/>
              <a:t> </a:t>
            </a:r>
            <a:r>
              <a:rPr dirty="0" err="1"/>
              <a:t>분석이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인상적인데</a:t>
            </a:r>
            <a:r>
              <a:rPr dirty="0"/>
              <a:t>, </a:t>
            </a:r>
            <a:r>
              <a:rPr dirty="0" err="1"/>
              <a:t>의사결정</a:t>
            </a:r>
            <a:r>
              <a:rPr dirty="0"/>
              <a:t> </a:t>
            </a:r>
            <a:r>
              <a:rPr dirty="0" err="1"/>
              <a:t>트리</a:t>
            </a:r>
            <a:r>
              <a:rPr dirty="0"/>
              <a:t> </a:t>
            </a:r>
            <a:r>
              <a:rPr dirty="0" err="1"/>
              <a:t>구조인</a:t>
            </a:r>
            <a:r>
              <a:rPr dirty="0"/>
              <a:t> </a:t>
            </a:r>
            <a:r>
              <a:rPr dirty="0" err="1"/>
              <a:t>국외</a:t>
            </a:r>
            <a:r>
              <a:rPr dirty="0"/>
              <a:t> 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챕터에서</a:t>
            </a:r>
            <a:r>
              <a:rPr dirty="0"/>
              <a:t> recall 99.2%, FPR 4.4%로, </a:t>
            </a:r>
            <a:r>
              <a:rPr dirty="0" err="1"/>
              <a:t>베이스라인의</a:t>
            </a:r>
            <a:r>
              <a:rPr dirty="0"/>
              <a:t> FPR 52.2%와 </a:t>
            </a:r>
            <a:r>
              <a:rPr dirty="0" err="1"/>
              <a:t>극명하게</a:t>
            </a:r>
            <a:r>
              <a:rPr dirty="0"/>
              <a:t> </a:t>
            </a:r>
            <a:r>
              <a:rPr dirty="0" err="1"/>
              <a:t>대비됩니다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정리하면</a:t>
            </a:r>
            <a:r>
              <a:rPr dirty="0"/>
              <a:t>, 이 </a:t>
            </a:r>
            <a:r>
              <a:rPr dirty="0" err="1"/>
              <a:t>논문은</a:t>
            </a:r>
            <a:r>
              <a:rPr dirty="0"/>
              <a:t> </a:t>
            </a:r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텍스트의</a:t>
            </a:r>
            <a:r>
              <a:rPr dirty="0"/>
              <a:t>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복잡성과</a:t>
            </a:r>
            <a:r>
              <a:rPr dirty="0"/>
              <a:t> </a:t>
            </a:r>
            <a:r>
              <a:rPr dirty="0" err="1"/>
              <a:t>현실</a:t>
            </a:r>
            <a:r>
              <a:rPr dirty="0"/>
              <a:t> </a:t>
            </a:r>
            <a:r>
              <a:rPr dirty="0" err="1"/>
              <a:t>상황의</a:t>
            </a:r>
            <a:r>
              <a:rPr dirty="0"/>
              <a:t> </a:t>
            </a:r>
            <a:r>
              <a:rPr dirty="0" err="1"/>
              <a:t>비정형성</a:t>
            </a:r>
            <a:r>
              <a:rPr dirty="0"/>
              <a:t> </a:t>
            </a:r>
            <a:r>
              <a:rPr dirty="0" err="1"/>
              <a:t>사이</a:t>
            </a:r>
            <a:r>
              <a:rPr dirty="0"/>
              <a:t> </a:t>
            </a:r>
            <a:r>
              <a:rPr dirty="0" err="1"/>
              <a:t>간극을</a:t>
            </a:r>
            <a:r>
              <a:rPr dirty="0"/>
              <a:t>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개의</a:t>
            </a:r>
            <a:r>
              <a:rPr dirty="0"/>
              <a:t> </a:t>
            </a:r>
            <a:r>
              <a:rPr dirty="0" err="1"/>
              <a:t>그래프와</a:t>
            </a:r>
            <a:r>
              <a:rPr dirty="0"/>
              <a:t> </a:t>
            </a:r>
            <a:r>
              <a:rPr dirty="0" err="1"/>
              <a:t>정렬</a:t>
            </a:r>
            <a:r>
              <a:rPr dirty="0"/>
              <a:t> </a:t>
            </a:r>
            <a:r>
              <a:rPr dirty="0" err="1"/>
              <a:t>게이트로</a:t>
            </a:r>
            <a:r>
              <a:rPr dirty="0"/>
              <a:t> </a:t>
            </a:r>
            <a:r>
              <a:rPr dirty="0" err="1"/>
              <a:t>메운</a:t>
            </a:r>
            <a:r>
              <a:rPr dirty="0"/>
              <a:t> neuro-symbolic </a:t>
            </a:r>
            <a:r>
              <a:rPr dirty="0" err="1"/>
              <a:t>프레임워크입니다</a:t>
            </a:r>
            <a:r>
              <a:rPr dirty="0"/>
              <a:t>. </a:t>
            </a:r>
            <a:r>
              <a:rPr dirty="0" err="1"/>
              <a:t>구조적</a:t>
            </a:r>
            <a:r>
              <a:rPr dirty="0"/>
              <a:t> </a:t>
            </a:r>
            <a:r>
              <a:rPr dirty="0" err="1"/>
              <a:t>판단은</a:t>
            </a:r>
            <a:r>
              <a:rPr dirty="0"/>
              <a:t> </a:t>
            </a:r>
            <a:r>
              <a:rPr dirty="0" err="1"/>
              <a:t>결정적</a:t>
            </a:r>
            <a:r>
              <a:rPr dirty="0"/>
              <a:t> </a:t>
            </a:r>
            <a:r>
              <a:rPr dirty="0" err="1"/>
              <a:t>연산으로</a:t>
            </a:r>
            <a:r>
              <a:rPr dirty="0"/>
              <a:t>, </a:t>
            </a:r>
            <a:r>
              <a:rPr dirty="0" err="1"/>
              <a:t>의미</a:t>
            </a:r>
            <a:r>
              <a:rPr dirty="0"/>
              <a:t> </a:t>
            </a:r>
            <a:r>
              <a:rPr dirty="0" err="1"/>
              <a:t>판단은</a:t>
            </a:r>
            <a:r>
              <a:rPr dirty="0"/>
              <a:t> </a:t>
            </a:r>
            <a:r>
              <a:rPr dirty="0" err="1"/>
              <a:t>LLM으로</a:t>
            </a:r>
            <a:r>
              <a:rPr dirty="0"/>
              <a:t> </a:t>
            </a:r>
            <a:r>
              <a:rPr dirty="0" err="1"/>
              <a:t>분리한</a:t>
            </a:r>
            <a:r>
              <a:rPr dirty="0"/>
              <a:t> </a:t>
            </a:r>
            <a:r>
              <a:rPr dirty="0" err="1"/>
              <a:t>설계가</a:t>
            </a:r>
            <a:r>
              <a:rPr dirty="0"/>
              <a:t> </a:t>
            </a:r>
            <a:r>
              <a:rPr dirty="0" err="1"/>
              <a:t>정확도와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가능성을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얻은</a:t>
            </a:r>
            <a:r>
              <a:rPr dirty="0"/>
              <a:t> </a:t>
            </a:r>
            <a:r>
              <a:rPr dirty="0" err="1"/>
              <a:t>비결입니다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한계도</a:t>
            </a:r>
            <a:r>
              <a:rPr dirty="0"/>
              <a:t> </a:t>
            </a:r>
            <a:r>
              <a:rPr dirty="0" err="1"/>
              <a:t>분명합니다</a:t>
            </a:r>
            <a:r>
              <a:rPr dirty="0"/>
              <a:t>.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추출이</a:t>
            </a:r>
            <a:r>
              <a:rPr dirty="0"/>
              <a:t> </a:t>
            </a:r>
            <a:r>
              <a:rPr dirty="0" err="1"/>
              <a:t>잘못되면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판단</a:t>
            </a:r>
            <a:r>
              <a:rPr dirty="0"/>
              <a:t> </a:t>
            </a:r>
            <a:r>
              <a:rPr dirty="0" err="1"/>
              <a:t>오류로</a:t>
            </a:r>
            <a:r>
              <a:rPr dirty="0"/>
              <a:t> </a:t>
            </a:r>
            <a:r>
              <a:rPr dirty="0" err="1"/>
              <a:t>이어지고</a:t>
            </a:r>
            <a:r>
              <a:rPr dirty="0"/>
              <a:t>, </a:t>
            </a:r>
            <a:r>
              <a:rPr dirty="0" err="1"/>
              <a:t>검증이</a:t>
            </a:r>
            <a:r>
              <a:rPr dirty="0"/>
              <a:t> GDPR </a:t>
            </a:r>
            <a:r>
              <a:rPr dirty="0" err="1"/>
              <a:t>하나에</a:t>
            </a:r>
            <a:r>
              <a:rPr dirty="0"/>
              <a:t> </a:t>
            </a:r>
            <a:r>
              <a:rPr dirty="0" err="1"/>
              <a:t>머물러</a:t>
            </a:r>
            <a:r>
              <a:rPr dirty="0"/>
              <a:t> </a:t>
            </a:r>
            <a:r>
              <a:rPr dirty="0" err="1"/>
              <a:t>있으며</a:t>
            </a:r>
            <a:r>
              <a:rPr dirty="0"/>
              <a:t>, </a:t>
            </a:r>
            <a:r>
              <a:rPr dirty="0" err="1"/>
              <a:t>벤치마크가</a:t>
            </a:r>
            <a:r>
              <a:rPr dirty="0"/>
              <a:t> </a:t>
            </a:r>
            <a:r>
              <a:rPr dirty="0" err="1"/>
              <a:t>비공개라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재현이</a:t>
            </a:r>
            <a:r>
              <a:rPr dirty="0"/>
              <a:t> </a:t>
            </a:r>
            <a:r>
              <a:rPr dirty="0" err="1"/>
              <a:t>어렵습니다</a:t>
            </a:r>
            <a:r>
              <a:rPr dirty="0"/>
              <a:t>. </a:t>
            </a:r>
            <a:r>
              <a:rPr dirty="0" err="1"/>
              <a:t>저자들은</a:t>
            </a:r>
            <a:r>
              <a:rPr dirty="0"/>
              <a:t> </a:t>
            </a:r>
            <a:r>
              <a:rPr dirty="0" err="1"/>
              <a:t>타</a:t>
            </a:r>
            <a:r>
              <a:rPr dirty="0"/>
              <a:t> </a:t>
            </a:r>
            <a:r>
              <a:rPr dirty="0" err="1"/>
              <a:t>규제</a:t>
            </a:r>
            <a:r>
              <a:rPr dirty="0"/>
              <a:t> </a:t>
            </a:r>
            <a:r>
              <a:rPr dirty="0" err="1"/>
              <a:t>도메인</a:t>
            </a:r>
            <a:r>
              <a:rPr dirty="0"/>
              <a:t> </a:t>
            </a:r>
            <a:r>
              <a:rPr dirty="0" err="1"/>
              <a:t>확장과</a:t>
            </a:r>
            <a:r>
              <a:rPr dirty="0"/>
              <a:t> </a:t>
            </a:r>
            <a:r>
              <a:rPr dirty="0" err="1"/>
              <a:t>에이전트</a:t>
            </a:r>
            <a:r>
              <a:rPr dirty="0"/>
              <a:t> </a:t>
            </a:r>
            <a:r>
              <a:rPr dirty="0" err="1"/>
              <a:t>네트워크</a:t>
            </a:r>
            <a:r>
              <a:rPr dirty="0"/>
              <a:t> </a:t>
            </a:r>
            <a:r>
              <a:rPr dirty="0" err="1"/>
              <a:t>설계를</a:t>
            </a:r>
            <a:r>
              <a:rPr dirty="0"/>
              <a:t> </a:t>
            </a:r>
            <a:r>
              <a:rPr dirty="0" err="1"/>
              <a:t>향후</a:t>
            </a:r>
            <a:r>
              <a:rPr dirty="0"/>
              <a:t> </a:t>
            </a:r>
            <a:r>
              <a:rPr dirty="0" err="1"/>
              <a:t>과제로</a:t>
            </a:r>
            <a:r>
              <a:rPr dirty="0"/>
              <a:t> </a:t>
            </a:r>
            <a:r>
              <a:rPr dirty="0" err="1"/>
              <a:t>제시합니다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마지막으로</a:t>
            </a:r>
            <a:r>
              <a:rPr dirty="0"/>
              <a:t> </a:t>
            </a:r>
            <a:r>
              <a:rPr dirty="0" err="1"/>
              <a:t>토의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가지를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 </a:t>
            </a:r>
            <a:r>
              <a:rPr dirty="0" err="1"/>
              <a:t>첫째</a:t>
            </a:r>
            <a:r>
              <a:rPr dirty="0"/>
              <a:t>, </a:t>
            </a:r>
            <a:r>
              <a:rPr dirty="0" err="1"/>
              <a:t>벤치마크가</a:t>
            </a:r>
            <a:r>
              <a:rPr dirty="0"/>
              <a:t> semi-</a:t>
            </a:r>
            <a:r>
              <a:rPr dirty="0" err="1"/>
              <a:t>synthetic이고</a:t>
            </a:r>
            <a:r>
              <a:rPr dirty="0"/>
              <a:t> </a:t>
            </a:r>
            <a:r>
              <a:rPr dirty="0" err="1"/>
              <a:t>비공개라는</a:t>
            </a:r>
            <a:r>
              <a:rPr dirty="0"/>
              <a:t> </a:t>
            </a:r>
            <a:r>
              <a:rPr dirty="0" err="1"/>
              <a:t>점에서</a:t>
            </a:r>
            <a:r>
              <a:rPr dirty="0"/>
              <a:t> </a:t>
            </a:r>
            <a:r>
              <a:rPr dirty="0" err="1"/>
              <a:t>외적</a:t>
            </a:r>
            <a:r>
              <a:rPr dirty="0"/>
              <a:t> </a:t>
            </a:r>
            <a:r>
              <a:rPr dirty="0" err="1"/>
              <a:t>타당도를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평가할지</a:t>
            </a:r>
            <a:r>
              <a:rPr dirty="0"/>
              <a:t>. </a:t>
            </a:r>
            <a:r>
              <a:rPr dirty="0" err="1"/>
              <a:t>둘째</a:t>
            </a:r>
            <a:r>
              <a:rPr dirty="0"/>
              <a:t>,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성능이</a:t>
            </a:r>
            <a:r>
              <a:rPr dirty="0"/>
              <a:t> micro-F1 57%인데 </a:t>
            </a:r>
            <a:r>
              <a:rPr dirty="0" err="1"/>
              <a:t>이것이</a:t>
            </a:r>
            <a:r>
              <a:rPr dirty="0"/>
              <a:t> </a:t>
            </a:r>
            <a:r>
              <a:rPr dirty="0" err="1"/>
              <a:t>실무에서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모델을</a:t>
            </a:r>
            <a:r>
              <a:rPr dirty="0"/>
              <a:t> </a:t>
            </a:r>
            <a:r>
              <a:rPr dirty="0" err="1"/>
              <a:t>전제로</a:t>
            </a:r>
            <a:r>
              <a:rPr dirty="0"/>
              <a:t> </a:t>
            </a:r>
            <a:r>
              <a:rPr dirty="0" err="1"/>
              <a:t>의미를</a:t>
            </a:r>
            <a:r>
              <a:rPr dirty="0"/>
              <a:t> </a:t>
            </a:r>
            <a:r>
              <a:rPr dirty="0" err="1"/>
              <a:t>갖는지</a:t>
            </a:r>
            <a:r>
              <a:rPr dirty="0"/>
              <a:t> — </a:t>
            </a:r>
            <a:r>
              <a:rPr dirty="0" err="1"/>
              <a:t>저자들도</a:t>
            </a:r>
            <a:r>
              <a:rPr dirty="0"/>
              <a:t> human-in-the-</a:t>
            </a:r>
            <a:r>
              <a:rPr dirty="0" err="1"/>
              <a:t>loop를</a:t>
            </a:r>
            <a:r>
              <a:rPr dirty="0"/>
              <a:t> </a:t>
            </a:r>
            <a:r>
              <a:rPr dirty="0" err="1"/>
              <a:t>전제하고</a:t>
            </a:r>
            <a:r>
              <a:rPr dirty="0"/>
              <a:t> </a:t>
            </a:r>
            <a:r>
              <a:rPr dirty="0" err="1"/>
              <a:t>recall을</a:t>
            </a:r>
            <a:r>
              <a:rPr dirty="0"/>
              <a:t> </a:t>
            </a:r>
            <a:r>
              <a:rPr dirty="0" err="1"/>
              <a:t>강조합니다</a:t>
            </a:r>
            <a:r>
              <a:rPr dirty="0"/>
              <a:t>. </a:t>
            </a:r>
            <a:r>
              <a:rPr dirty="0" err="1"/>
              <a:t>셋째</a:t>
            </a:r>
            <a:r>
              <a:rPr dirty="0"/>
              <a:t>, </a:t>
            </a:r>
            <a:r>
              <a:rPr dirty="0" err="1"/>
              <a:t>규제가</a:t>
            </a:r>
            <a:r>
              <a:rPr dirty="0"/>
              <a:t> </a:t>
            </a:r>
            <a:r>
              <a:rPr dirty="0" err="1"/>
              <a:t>개정될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유지보수</a:t>
            </a:r>
            <a:r>
              <a:rPr dirty="0"/>
              <a:t> </a:t>
            </a:r>
            <a:r>
              <a:rPr dirty="0" err="1"/>
              <a:t>비용과</a:t>
            </a:r>
            <a:r>
              <a:rPr dirty="0"/>
              <a:t> </a:t>
            </a:r>
            <a:r>
              <a:rPr dirty="0" err="1"/>
              <a:t>오프라인</a:t>
            </a:r>
            <a:r>
              <a:rPr dirty="0"/>
              <a:t> LLM </a:t>
            </a:r>
            <a:r>
              <a:rPr dirty="0" err="1"/>
              <a:t>구축</a:t>
            </a:r>
            <a:r>
              <a:rPr dirty="0"/>
              <a:t> </a:t>
            </a:r>
            <a:r>
              <a:rPr dirty="0" err="1"/>
              <a:t>오류의</a:t>
            </a:r>
            <a:r>
              <a:rPr dirty="0"/>
              <a:t> </a:t>
            </a:r>
            <a:r>
              <a:rPr dirty="0" err="1"/>
              <a:t>전파</a:t>
            </a:r>
            <a:r>
              <a:rPr dirty="0"/>
              <a:t> </a:t>
            </a:r>
            <a:r>
              <a:rPr dirty="0" err="1"/>
              <a:t>위험입니다</a:t>
            </a:r>
            <a:r>
              <a:rPr dirty="0"/>
              <a:t>. </a:t>
            </a:r>
            <a:r>
              <a:rPr dirty="0" err="1"/>
              <a:t>들어주셔서</a:t>
            </a:r>
            <a:r>
              <a:rPr dirty="0"/>
              <a:t> </a:t>
            </a:r>
            <a:r>
              <a:rPr dirty="0" err="1"/>
              <a:t>감사합니다</a:t>
            </a:r>
            <a:r>
              <a:rPr dirty="0"/>
              <a:t>. </a:t>
            </a:r>
            <a:r>
              <a:rPr dirty="0" err="1"/>
              <a:t>질문</a:t>
            </a:r>
            <a:r>
              <a:rPr dirty="0"/>
              <a:t> </a:t>
            </a:r>
            <a:r>
              <a:rPr dirty="0" err="1"/>
              <a:t>받겠습니다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32720" y="914400"/>
            <a:ext cx="164592" cy="16459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1554480"/>
            <a:ext cx="237744" cy="2377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2468880"/>
            <a:ext cx="128016" cy="12801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21440" y="3108960"/>
            <a:ext cx="164592" cy="164592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0" y="3931920"/>
            <a:ext cx="201168" cy="20116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47120" y="4754880"/>
            <a:ext cx="128016" cy="128016"/>
          </a:xfrm>
          <a:prstGeom prst="ellipse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98480" y="5577840"/>
            <a:ext cx="164592" cy="1645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0415016" y="996696"/>
            <a:ext cx="859536" cy="676656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671048" y="1673352"/>
            <a:ext cx="603504" cy="859536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671048" y="2532888"/>
            <a:ext cx="932688" cy="658368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341864" y="3191256"/>
            <a:ext cx="1261872" cy="841248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41864" y="4032504"/>
            <a:ext cx="969264" cy="786384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780776" y="4818888"/>
            <a:ext cx="530352" cy="841248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960120"/>
            <a:ext cx="8778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 err="1">
                <a:solidFill>
                  <a:srgbClr val="E8B931"/>
                </a:solidFill>
                <a:latin typeface="Apple SD Gothic Neo"/>
                <a:ea typeface="Apple SD Gothic Neo"/>
              </a:rPr>
              <a:t>논문</a:t>
            </a:r>
            <a:r>
              <a:rPr sz="1300" b="1" i="0" dirty="0">
                <a:solidFill>
                  <a:srgbClr val="E8B931"/>
                </a:solidFill>
                <a:latin typeface="Apple SD Gothic Neo"/>
                <a:ea typeface="Apple SD Gothic Neo"/>
              </a:rPr>
              <a:t> </a:t>
            </a:r>
            <a:r>
              <a:rPr sz="1300" b="1" i="0" dirty="0" err="1">
                <a:solidFill>
                  <a:srgbClr val="E8B931"/>
                </a:solidFill>
                <a:latin typeface="Apple SD Gothic Neo"/>
                <a:ea typeface="Apple SD Gothic Neo"/>
              </a:rPr>
              <a:t>리뷰</a:t>
            </a:r>
            <a:endParaRPr sz="1300" b="1" i="0" dirty="0">
              <a:solidFill>
                <a:srgbClr val="E8B931"/>
              </a:solidFill>
              <a:latin typeface="Apple SD Gothic Neo"/>
              <a:ea typeface="Apple SD Gothic Ne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1417320"/>
            <a:ext cx="9052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pple SD Gothic Neo"/>
                <a:ea typeface="Apple SD Gothic Neo"/>
              </a:rPr>
              <a:t>GraphCompliance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95728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ADCFC"/>
                </a:solidFill>
                <a:latin typeface="Apple SD Gothic Neo"/>
                <a:ea typeface="Apple SD Gothic Neo"/>
              </a:rPr>
              <a:t>Aligning Policy and Context Graphs for LLM-Based Regulatory Compliance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520440"/>
            <a:ext cx="3886200" cy="0"/>
          </a:xfrm>
          <a:prstGeom prst="line">
            <a:avLst/>
          </a:prstGeom>
          <a:ln w="1905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749039"/>
            <a:ext cx="9326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Apple SD Gothic Neo"/>
                <a:ea typeface="Apple SD Gothic Neo"/>
              </a:rPr>
              <a:t>Jiseong Chung · Ronny Ko · Wonchul Yoo · Makoto Onizuka · Sungmok Kim · Tae-Wan Kim · Won-Yong Shin</a:t>
            </a:r>
          </a:p>
          <a:p>
            <a:pPr algn="l"/>
            <a:r>
              <a:rPr sz="1150" b="0" i="0">
                <a:solidFill>
                  <a:srgbClr val="9FB4DC"/>
                </a:solidFill>
                <a:latin typeface="Apple SD Gothic Neo"/>
                <a:ea typeface="Apple SD Gothic Neo"/>
              </a:rPr>
              <a:t>Seoul National University · Osaka University · Yonsei University   |   arXiv:2510.26309 (cs.AI), Oct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 err="1">
                <a:solidFill>
                  <a:srgbClr val="FFFFFF"/>
                </a:solidFill>
                <a:latin typeface="Apple SD Gothic Neo"/>
                <a:ea typeface="Apple SD Gothic Neo"/>
              </a:rPr>
              <a:t>발표자</a:t>
            </a:r>
            <a:r>
              <a:rPr sz="1250" b="1" i="0" dirty="0">
                <a:solidFill>
                  <a:srgbClr val="FFFFFF"/>
                </a:solidFill>
                <a:latin typeface="Apple SD Gothic Neo"/>
                <a:ea typeface="Apple SD Gothic Neo"/>
              </a:rPr>
              <a:t>  </a:t>
            </a:r>
            <a:r>
              <a:rPr lang="ko-KR" altLang="en-US" sz="1250" b="1" i="0" dirty="0">
                <a:solidFill>
                  <a:srgbClr val="FFFFFF"/>
                </a:solidFill>
                <a:latin typeface="Apple SD Gothic Neo"/>
                <a:ea typeface="Apple SD Gothic Neo"/>
              </a:rPr>
              <a:t>이민우</a:t>
            </a:r>
            <a:r>
              <a:rPr sz="1250" b="0" i="0" dirty="0">
                <a:solidFill>
                  <a:srgbClr val="9FB4DC"/>
                </a:solidFill>
                <a:latin typeface="Apple SD Gothic Neo"/>
                <a:ea typeface="Apple SD Gothic Neo"/>
              </a:rPr>
              <a:t>    ·    2026. 06.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발표 흐름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81328"/>
            <a:ext cx="64008" cy="1078992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728216"/>
            <a:ext cx="868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E9384"/>
                </a:solidFill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645920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pple SD Gothic Neo"/>
                <a:ea typeface="Apple SD Gothic Neo"/>
              </a:rPr>
              <a:t>연구 배경과 문제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048256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ple SD Gothic Neo"/>
                <a:ea typeface="Apple SD Gothic Neo"/>
              </a:rPr>
              <a:t>왜 LLM만으로는 규제 준수 판단이 어려운가 — 3가지 실패 유형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724912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724912"/>
            <a:ext cx="64008" cy="107899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971800"/>
            <a:ext cx="868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889504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pple SD Gothic Neo"/>
                <a:ea typeface="Apple SD Gothic Neo"/>
              </a:rPr>
              <a:t>제안 방법: GraphCompliance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9184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ple SD Gothic Neo"/>
                <a:ea typeface="Apple SD Gothic Neo"/>
              </a:rPr>
              <a:t>Policy Graph · Context Graph · Compliance Gate의 dual-graph alignment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968496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968496"/>
            <a:ext cx="64008" cy="1078992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215384"/>
            <a:ext cx="868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4572E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133088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pple SD Gothic Neo"/>
                <a:ea typeface="Apple SD Gothic Neo"/>
              </a:rPr>
              <a:t>실험 및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35424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ple SD Gothic Neo"/>
                <a:ea typeface="Apple SD Gothic Neo"/>
              </a:rPr>
              <a:t>GCS-300 벤치마크, RQ1–RQ5: 정확도·ablation·견고성·사례 분석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212080"/>
            <a:ext cx="1106424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5212080"/>
            <a:ext cx="64008" cy="1078992"/>
          </a:xfrm>
          <a:prstGeom prst="rect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458968"/>
            <a:ext cx="868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8B931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76672"/>
            <a:ext cx="9509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Apple SD Gothic Neo"/>
                <a:ea typeface="Apple SD Gothic Neo"/>
              </a:rPr>
              <a:t>결론 및 토의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779008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Apple SD Gothic Neo"/>
                <a:ea typeface="Apple SD Gothic Neo"/>
              </a:rPr>
              <a:t>기여 정리, 한계, 그리고 함께 논의하고 싶은 질문들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연구 배경 — 규제 준수 판단의 두 가지 요구 능력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7160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937"/>
                </a:solidFill>
                <a:latin typeface="Apple SD Gothic Neo"/>
                <a:ea typeface="Apple SD Gothic Neo"/>
              </a:rPr>
              <a:t>웹 스케일 서비스는 요청마다 규제 판단이 필요. 그러나 규제 텍스트(GDPR)는 </a:t>
            </a:r>
            <a:r>
              <a:rPr sz="1350" b="1" i="0">
                <a:solidFill>
                  <a:srgbClr val="1E2761"/>
                </a:solidFill>
                <a:latin typeface="Apple SD Gothic Neo"/>
                <a:ea typeface="Apple SD Gothic Neo"/>
              </a:rPr>
              <a:t>상호참조적·규범적</a:t>
            </a:r>
            <a:r>
              <a:rPr sz="1350" b="0" i="0">
                <a:solidFill>
                  <a:srgbClr val="1F2937"/>
                </a:solidFill>
                <a:latin typeface="Apple SD Gothic Neo"/>
                <a:ea typeface="Apple SD Gothic Neo"/>
              </a:rPr>
              <a:t>이고, 런타임 컨텍스트는 </a:t>
            </a:r>
            <a:r>
              <a:rPr sz="1350" b="1" i="0">
                <a:solidFill>
                  <a:srgbClr val="E4572E"/>
                </a:solidFill>
                <a:latin typeface="Apple SD Gothic Neo"/>
                <a:ea typeface="Apple SD Gothic Neo"/>
              </a:rPr>
              <a:t>비정형 자연어</a:t>
            </a:r>
            <a:r>
              <a:rPr sz="1350" b="0" i="0">
                <a:solidFill>
                  <a:srgbClr val="1F2937"/>
                </a:solidFill>
                <a:latin typeface="Apple SD Gothic Neo"/>
                <a:ea typeface="Apple SD Gothic Neo"/>
              </a:rPr>
              <a:t>로 표현된다 — 이 간극이 문제의 출발점.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4028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240280"/>
            <a:ext cx="5440680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44144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9384"/>
                </a:solidFill>
                <a:latin typeface="Apple SD Gothic Neo"/>
                <a:ea typeface="Apple SD Gothic Neo"/>
              </a:rPr>
              <a:t>① Semantic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8620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비정형 컨텍스트의 뉘앙스 해석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LLM·RAG의 강점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— 그러나 black-box로 검증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2240280"/>
            <a:ext cx="54406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2240280"/>
            <a:ext cx="5440680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2441448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Apple SD Gothic Neo"/>
                <a:ea typeface="Apple SD Gothic Neo"/>
              </a:rPr>
              <a:t>② Structural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2862072"/>
            <a:ext cx="4892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적용 범위·예외·상호참조의 추적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그래프의 강점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— 그러나 자연어 의미 해석에 한계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24528"/>
            <a:ext cx="11064240" cy="1417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0424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E8B931"/>
                </a:solidFill>
                <a:latin typeface="Apple SD Gothic Neo"/>
                <a:ea typeface="Apple SD Gothic Neo"/>
              </a:rPr>
              <a:t>딜레마:  </a:t>
            </a:r>
            <a:r>
              <a:rPr sz="1450" b="1" i="0">
                <a:solidFill>
                  <a:srgbClr val="FFFFFF"/>
                </a:solidFill>
                <a:latin typeface="Apple SD Gothic Neo"/>
                <a:ea typeface="Apple SD Gothic Neo"/>
              </a:rPr>
              <a:t>LLM은 ①에 강하고 ②에 약하다. 그래프는 그 반대다.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Apple SD Gothic Neo"/>
                <a:ea typeface="Apple SD Gothic Neo"/>
              </a:rPr>
              <a:t>GraphRAG처럼 그래프를 '검색 보조'로만 쓰면 깊은 구조적 논리가 필요한 판단에서 여전히 실패한다 → 역할의 재설계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기존 접근의 3가지 실패 유형 (Figure 1)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3602736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81328"/>
            <a:ext cx="3602736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81328" y="2057400"/>
            <a:ext cx="274320" cy="27432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44368" y="1874519"/>
            <a:ext cx="274320" cy="27432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304288" y="2606040"/>
            <a:ext cx="274320" cy="27432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1755648" y="2011680"/>
            <a:ext cx="1188720" cy="182880"/>
          </a:xfrm>
          <a:prstGeom prst="line">
            <a:avLst/>
          </a:prstGeom>
          <a:ln w="1524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18488" y="2331720"/>
            <a:ext cx="777240" cy="365760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15768" y="254203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4572E"/>
                </a:solidFill>
                <a:latin typeface="Apple SD Gothic Neo"/>
                <a:ea typeface="Apple SD Gothic Neo"/>
              </a:rPr>
              <a:t>끊긴 참조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E4572E"/>
                </a:solidFill>
                <a:latin typeface="Apple SD Gothic Neo"/>
                <a:ea typeface="Apple SD Gothic Neo"/>
              </a:rPr>
              <a:t>(a) Cross-reference 누락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3127248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“Art. A는 Art. B·C에 따른다”처럼 참조가 문서 전체에 분산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E4572E"/>
                </a:solidFill>
                <a:latin typeface="Apple SD Gothic Neo"/>
                <a:ea typeface="Apple SD Gothic Neo"/>
              </a:rPr>
              <a:t>→ </a:t>
            </a:r>
            <a:r>
              <a:rPr sz="1150" b="0" i="0">
                <a:solidFill>
                  <a:srgbClr val="64748B"/>
                </a:solidFill>
                <a:latin typeface="Apple SD Gothic Neo"/>
                <a:ea typeface="Apple SD Gothic Neo"/>
              </a:rPr>
              <a:t>쿼리 유사도 중심 retrieval은 참조 체인을 함께 가져오지 못해 추론 단서가 끊김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1481328"/>
            <a:ext cx="3602736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4256" y="1481328"/>
            <a:ext cx="3602736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80176" y="182880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248656" y="251460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711696" y="2514600"/>
            <a:ext cx="256032" cy="25603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H="1">
            <a:off x="5376672" y="2084832"/>
            <a:ext cx="731520" cy="457200"/>
          </a:xfrm>
          <a:prstGeom prst="line">
            <a:avLst/>
          </a:prstGeom>
          <a:ln w="15240">
            <a:solidFill>
              <a:srgbClr val="6474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08192" y="2084832"/>
            <a:ext cx="731520" cy="457200"/>
          </a:xfrm>
          <a:prstGeom prst="line">
            <a:avLst/>
          </a:prstGeom>
          <a:ln w="15240">
            <a:solidFill>
              <a:srgbClr val="64748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01184" y="2788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Apple SD Gothic Neo"/>
                <a:ea typeface="Apple SD Gothic Neo"/>
              </a:rPr>
              <a:t>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788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E4572E"/>
                </a:solidFill>
                <a:latin typeface="Apple SD Gothic Neo"/>
                <a:ea typeface="Apple SD Gothic Neo"/>
              </a:rPr>
              <a:t>No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32918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pple SD Gothic Neo"/>
                <a:ea typeface="Apple SD Gothic Neo"/>
              </a:rPr>
              <a:t>(b) Decision-tree 논리 붕괴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767328"/>
            <a:ext cx="3127248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국외 이전(Ch.V)처럼 Yes/No 분기를 순서대로 따라가야 하는 구조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→ </a:t>
            </a:r>
            <a:r>
              <a:rPr sz="1150" b="0" i="0">
                <a:solidFill>
                  <a:srgbClr val="64748B"/>
                </a:solidFill>
                <a:latin typeface="Apple SD Gothic Neo"/>
                <a:ea typeface="Apple SD Gothic Neo"/>
              </a:rPr>
              <a:t>청킹·임베딩 유사도는 분기 경로의 순서와 논리 연결을 보존하지 못함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3" y="1481328"/>
            <a:ext cx="3602736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01583" y="1481328"/>
            <a:ext cx="3602736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78824" y="1920240"/>
            <a:ext cx="822960" cy="18288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78824" y="2212848"/>
            <a:ext cx="822960" cy="18288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78824" y="2505456"/>
            <a:ext cx="822960" cy="18288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113263" y="1920240"/>
            <a:ext cx="822960" cy="18288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113263" y="2212848"/>
            <a:ext cx="822960" cy="18288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113263" y="2505456"/>
            <a:ext cx="822960" cy="18288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29215" y="2121408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E4572E"/>
                </a:solidFill>
                <a:latin typeface="Apple SD Gothic Neo"/>
                <a:ea typeface="Apple SD Gothic Neo"/>
              </a:rPr>
              <a:t>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5" y="32918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9384"/>
                </a:solidFill>
                <a:latin typeface="Apple SD Gothic Neo"/>
                <a:ea typeface="Apple SD Gothic Neo"/>
              </a:rPr>
              <a:t>(c) Checklist 혼동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5" y="3767328"/>
            <a:ext cx="3127248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직접수집(Art.13) vs 간접수집(Art.14)처럼 상호배타적 목록 + 기한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0E9384"/>
                </a:solidFill>
                <a:latin typeface="Apple SD Gothic Neo"/>
                <a:ea typeface="Apple SD Gothic Neo"/>
              </a:rPr>
              <a:t>→ </a:t>
            </a:r>
            <a:r>
              <a:rPr sz="1150" b="0" i="0">
                <a:solidFill>
                  <a:srgbClr val="64748B"/>
                </a:solidFill>
                <a:latin typeface="Apple SD Gothic Neo"/>
                <a:ea typeface="Apple SD Gothic Neo"/>
              </a:rPr>
              <a:t>LLM이 목록을 병합하거나 기한을 누락 → 중복·누락 판정 발생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원문 Figure 1 — 실패 유형의 실제 예시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481328"/>
            <a:ext cx="112471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10881360" cy="3621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57150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4572E"/>
                </a:solidFill>
                <a:latin typeface="Apple SD Gothic Neo"/>
                <a:ea typeface="Apple SD Gothic Neo"/>
              </a:rPr>
              <a:t>(a) 참조 체인 단절  </a:t>
            </a: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Art.A→B→C 참조가 retrieval에서 끊김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7150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(b) 분기 경로 붕괴  </a:t>
            </a: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Ch.V 이전 적법성: 순서 의존 Yes/No 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57150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E9384"/>
                </a:solidFill>
                <a:latin typeface="Apple SD Gothic Neo"/>
                <a:ea typeface="Apple SD Gothic Neo"/>
              </a:rPr>
              <a:t>(c) 목록 병합·기한 누락  </a:t>
            </a: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Art.13 vs 14 상호배타 목록 + 1개월 기한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KEY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핵심 아이디어 — KG를 검색 도구가 아닌 추론 골격으로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1064240" cy="137160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27632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</a:rPr>
              <a:t>“KG는 retrieval enhancer가 아니라 </a:t>
            </a:r>
            <a:r>
              <a:rPr sz="1500" b="1" i="0">
                <a:solidFill>
                  <a:srgbClr val="1E2761"/>
                </a:solidFill>
                <a:latin typeface="Apple SD Gothic Neo"/>
                <a:ea typeface="Apple SD Gothic Neo"/>
              </a:rPr>
              <a:t>active reasoning scaffold</a:t>
            </a:r>
            <a:r>
              <a:rPr sz="1500" b="0" i="0">
                <a:solidFill>
                  <a:srgbClr val="1F2937"/>
                </a:solidFill>
                <a:latin typeface="Apple SD Gothic Neo"/>
                <a:ea typeface="Apple SD Gothic Neo"/>
              </a:rPr>
              <a:t>이다”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Apple SD Gothic Neo"/>
                <a:ea typeface="Apple SD Gothic Neo"/>
              </a:rPr>
              <a:t>구조적 판단(참조 추적·actor 정합·예외 체인)은 결정적(deterministic) 그래프 연산이 수행하고, LLM은 의미 해석과 최종 판단에만 집중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63240"/>
            <a:ext cx="36027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063240"/>
            <a:ext cx="3602736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7" y="3310128"/>
            <a:ext cx="146304" cy="14630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246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9384"/>
                </a:solidFill>
                <a:latin typeface="Apple SD Gothic Neo"/>
                <a:ea typeface="Apple SD Gothic Neo"/>
              </a:rPr>
              <a:t>Policy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675887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규범 구조의 형식화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041648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ple SD Gothic Neo"/>
                <a:ea typeface="Apple SD Gothic Neo"/>
              </a:rPr>
              <a:t>GDPR 전 조항을 premise와 Compliance Unit(CU)으로 분해, 상호참조를 REFERS_TO 엣지로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3063240"/>
            <a:ext cx="36027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34256" y="3063240"/>
            <a:ext cx="3602736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08576" y="3310128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8" y="3246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4572E"/>
                </a:solidFill>
                <a:latin typeface="Apple SD Gothic Neo"/>
                <a:ea typeface="Apple SD Gothic Neo"/>
              </a:rPr>
              <a:t>Context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3675887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상황 사실의 형식화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041648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ple SD Gothic Neo"/>
                <a:ea typeface="Apple SD Gothic Neo"/>
              </a:rPr>
              <a:t>시나리오를 Subject–Action–Object(SAO) ER-triple로 추출, 정책 용어로 hypernym 정규화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3" y="3063240"/>
            <a:ext cx="3602736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3063240"/>
            <a:ext cx="3602736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75904" y="3310128"/>
            <a:ext cx="146304" cy="14630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31936" y="3246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Apple SD Gothic Neo"/>
                <a:ea typeface="Apple SD Gothic Neo"/>
              </a:rPr>
              <a:t>Compliance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675887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두 그래프의 정렬·판단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041648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4748B"/>
                </a:solidFill>
                <a:latin typeface="Apple SD Gothic Neo"/>
                <a:ea typeface="Apple SD Gothic Neo"/>
              </a:rPr>
              <a:t>anchor 생성 → 후보 CU 검색 → LLM listwise 판단 → 참조 기반 예외 override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기여: 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① 규제 특화 KG-LLM 하이브리드 프레임워크  ② Plan-anchored compliance gate 기반 dual-graph alignment  ③ 최대 +7.2pp의 실증적 SOTA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전체 파이프라인 (Figure 2)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00200"/>
            <a:ext cx="2286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93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00200"/>
            <a:ext cx="64008" cy="137160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7099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9384"/>
                </a:solidFill>
                <a:latin typeface="Apple SD Gothic Neo"/>
                <a:ea typeface="Apple SD Gothic Neo"/>
              </a:rPr>
              <a:t>Policy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1993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GDPR 전문 — 장·조·항
(규범·상호참조)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06240"/>
            <a:ext cx="22860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206240"/>
            <a:ext cx="64008" cy="13716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Apple SD Gothic Neo"/>
                <a:ea typeface="Apple SD Gothic Neo"/>
              </a:rPr>
              <a:t>Context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993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런타임 시나리오
(자연어 사건 기술)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1600200"/>
            <a:ext cx="26517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93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0440" y="1600200"/>
            <a:ext cx="64008" cy="1371600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2" y="17099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9384"/>
                </a:solidFill>
                <a:latin typeface="Apple SD Gothic Neo"/>
                <a:ea typeface="Apple SD Gothic Neo"/>
              </a:rPr>
              <a:t>Policy Graph  Gᴾ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2057400"/>
            <a:ext cx="2359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Premise + CU 노드
REFERS_TO 엣지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4206240"/>
            <a:ext cx="26517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20440" y="4206240"/>
            <a:ext cx="64008" cy="1371600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85032" y="43159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572E"/>
                </a:solidFill>
                <a:latin typeface="Apple SD Gothic Neo"/>
                <a:ea typeface="Apple SD Gothic Neo"/>
              </a:rPr>
              <a:t>Context Graph  Gᶜ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4663440"/>
            <a:ext cx="2359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SAO ER-triples
+ hypernym features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52928" y="2286000"/>
            <a:ext cx="667512" cy="0"/>
          </a:xfrm>
          <a:prstGeom prst="line">
            <a:avLst/>
          </a:prstGeom>
          <a:ln w="22860">
            <a:solidFill>
              <a:srgbClr val="0E93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52928" y="4892040"/>
            <a:ext cx="667512" cy="0"/>
          </a:xfrm>
          <a:prstGeom prst="line">
            <a:avLst/>
          </a:prstGeom>
          <a:ln w="22860">
            <a:solidFill>
              <a:srgbClr val="E457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24912" y="187451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ple SD Gothic Neo"/>
                <a:ea typeface="Apple SD Gothic Neo"/>
              </a:rPr>
              <a:t>LLM, 1회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44988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ple SD Gothic Neo"/>
                <a:ea typeface="Apple SD Gothic Neo"/>
              </a:rPr>
              <a:t>LLM 추출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1600200"/>
            <a:ext cx="3108960" cy="3977639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17830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</a:rPr>
              <a:t>Compliance Gate</a:t>
            </a:r>
          </a:p>
        </p:txBody>
      </p:sp>
      <p:sp>
        <p:nvSpPr>
          <p:cNvPr id="33" name="Oval 32"/>
          <p:cNvSpPr/>
          <p:nvPr/>
        </p:nvSpPr>
        <p:spPr>
          <a:xfrm>
            <a:off x="7132320" y="2258568"/>
            <a:ext cx="219456" cy="219456"/>
          </a:xfrm>
          <a:prstGeom prst="ellipse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0" y="2267712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Apple SD Gothic Neo"/>
                <a:ea typeface="Apple SD Gothic Neo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2128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</a:rPr>
              <a:t>Anchor 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459736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ADCFC"/>
                </a:solidFill>
                <a:latin typeface="Apple SD Gothic Neo"/>
                <a:ea typeface="Apple SD Gothic Neo"/>
              </a:rPr>
              <a:t>actor/data/system 그룹화</a:t>
            </a:r>
          </a:p>
        </p:txBody>
      </p:sp>
      <p:sp>
        <p:nvSpPr>
          <p:cNvPr id="37" name="Oval 36"/>
          <p:cNvSpPr/>
          <p:nvPr/>
        </p:nvSpPr>
        <p:spPr>
          <a:xfrm>
            <a:off x="7132320" y="3099816"/>
            <a:ext cx="219456" cy="219456"/>
          </a:xfrm>
          <a:prstGeom prst="ellipse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0" y="3108960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0540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</a:rPr>
              <a:t>Candidate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3300984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ADCFC"/>
                </a:solidFill>
                <a:latin typeface="Apple SD Gothic Neo"/>
                <a:ea typeface="Apple SD Gothic Neo"/>
              </a:rPr>
              <a:t>bi-encoder → cross-encoder
→ Top-K CU Plan</a:t>
            </a:r>
          </a:p>
        </p:txBody>
      </p:sp>
      <p:sp>
        <p:nvSpPr>
          <p:cNvPr id="41" name="Oval 40"/>
          <p:cNvSpPr/>
          <p:nvPr/>
        </p:nvSpPr>
        <p:spPr>
          <a:xfrm>
            <a:off x="7132320" y="3941063"/>
            <a:ext cx="219456" cy="219456"/>
          </a:xfrm>
          <a:prstGeom prst="ellipse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0" y="3950208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389534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</a:rPr>
              <a:t>LLM Judgment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142232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ADCFC"/>
                </a:solidFill>
                <a:latin typeface="Apple SD Gothic Neo"/>
                <a:ea typeface="Apple SD Gothic Neo"/>
              </a:rPr>
              <a:t>listwise 판단 + evidence window</a:t>
            </a:r>
          </a:p>
        </p:txBody>
      </p:sp>
      <p:sp>
        <p:nvSpPr>
          <p:cNvPr id="45" name="Oval 44"/>
          <p:cNvSpPr/>
          <p:nvPr/>
        </p:nvSpPr>
        <p:spPr>
          <a:xfrm>
            <a:off x="7132320" y="4782312"/>
            <a:ext cx="219456" cy="219456"/>
          </a:xfrm>
          <a:prstGeom prst="ellipse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0" y="4791456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7365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ple SD Gothic Neo"/>
                <a:ea typeface="Apple SD Gothic Neo"/>
              </a:rPr>
              <a:t>Exception Override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49834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ADCFC"/>
                </a:solidFill>
                <a:latin typeface="Apple SD Gothic Neo"/>
                <a:ea typeface="Apple SD Gothic Neo"/>
              </a:rPr>
              <a:t>reference closure 순회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172200" y="2286000"/>
            <a:ext cx="731520" cy="182880"/>
          </a:xfrm>
          <a:prstGeom prst="line">
            <a:avLst/>
          </a:prstGeom>
          <a:ln w="22860">
            <a:solidFill>
              <a:srgbClr val="0E938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172200" y="4663440"/>
            <a:ext cx="731520" cy="228600"/>
          </a:xfrm>
          <a:prstGeom prst="line">
            <a:avLst/>
          </a:prstGeom>
          <a:ln w="22860">
            <a:solidFill>
              <a:srgbClr val="E457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0378440" y="2834640"/>
            <a:ext cx="1508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B9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442448" y="3017520"/>
            <a:ext cx="1371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Compliance</a:t>
            </a:r>
          </a:p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Decision</a:t>
            </a:r>
          </a:p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Apple SD Gothic Neo"/>
                <a:ea typeface="Apple SD Gothic Neo"/>
              </a:rPr>
              <a:t>조항 단위 판정
+ 근거·예외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012680" y="3611880"/>
            <a:ext cx="365760" cy="0"/>
          </a:xfrm>
          <a:prstGeom prst="line">
            <a:avLst/>
          </a:prstGeom>
          <a:ln w="2286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58978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Apple SD Gothic Neo"/>
                <a:ea typeface="Apple SD Gothic Neo"/>
              </a:rPr>
              <a:t>그래프 구축은 오프라인 1회 — 런타임에는 정렬과 판단만 수행 (web-scale 처리의 전제)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원문 Figure 2 — 병원 EHR 사례로 본 실제 흐름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417320"/>
            <a:ext cx="1124712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563624"/>
            <a:ext cx="9966960" cy="4679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사례 워크스루 — Figure 2 시나리오의 전체 버전 (Appendix D)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81328"/>
            <a:ext cx="360273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81328"/>
            <a:ext cx="3602736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6824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Apple SD Gothic Neo"/>
                <a:ea typeface="Apple SD Gothic Neo"/>
              </a:rPr>
              <a:t>시나리오 (발췌)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21408"/>
            <a:ext cx="3127248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사립 병원 IT 운영 매니저 (city_A)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EHR 주간 파일: 퇴원일 · ICD-10 코드 · 검사 플래그 · 가명 환자 ID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CDP로 보내 lookalike 광고 · 퇴원 환자 리타게팅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동의는 ‘서비스 개선·혜택’ 묶음(bundled) 1개뿐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건강데이터 마케팅용 별도 동의 없음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US 광고 벤더로 전송 중, SCC/TIA 미완료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81328"/>
            <a:ext cx="360273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34256" y="1481328"/>
            <a:ext cx="3602736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16824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9384"/>
                </a:solidFill>
                <a:latin typeface="Apple SD Gothic Neo"/>
                <a:ea typeface="Apple SD Gothic Neo"/>
              </a:rPr>
              <a:t>그래프가 포착하는 사실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121408"/>
            <a:ext cx="3127248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role: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controller  (IT 매니저 → hypernym 매핑)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special category: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health  (퇴원일·진단코드 → ‘data concerning health’)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purpose: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marketing · retargeting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주장된 lawful basis: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legitimate interests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international transfer: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US (제3국)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3" y="1481328"/>
            <a:ext cx="360273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01583" y="1481328"/>
            <a:ext cx="3602736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57615" y="168249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pple SD Gothic Neo"/>
                <a:ea typeface="Apple SD Gothic Neo"/>
              </a:rPr>
              <a:t>정답 라벨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2121408"/>
            <a:ext cx="3127248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violation: true · risk: high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Art. 9(1)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특수범주(건강) 처리 금지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Art. 7 · 4(11)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묶음 동의 = 유효 동의 아님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Arts. 44–49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국외 이전 안전장치 부재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Art. 5(1)(b) · 12–14 </a:t>
            </a:r>
            <a:r>
              <a:rPr sz="1050" b="0" i="0">
                <a:solidFill>
                  <a:srgbClr val="1F2937"/>
                </a:solidFill>
                <a:latin typeface="Apple SD Gothic Neo"/>
                <a:ea typeface="Apple SD Gothic Neo"/>
              </a:rPr>
              <a:t>목적 제한 · 투명성 위반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9963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Apple SD Gothic Neo"/>
                <a:ea typeface="Apple SD Gothic Neo"/>
              </a:rPr>
              <a:t>하나의 시나리오가 여러 조항을 동시에 위반 — 조항 단위 multi-label 판정이 필요한 이유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METHOD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Policy Graph 구축 — 규범의 형식화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64008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58191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9384"/>
                </a:solidFill>
                <a:latin typeface="Apple SD Gothic Neo"/>
                <a:ea typeface="Apple SD Gothic Neo"/>
              </a:rPr>
              <a:t>①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581912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조·항 단위 분할 후 LLM이 premise(정의·범위 등 비규범적)와 CU(판단 대상 규범)로 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96896"/>
            <a:ext cx="64008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2715768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9384"/>
                </a:solidFill>
                <a:latin typeface="Apple SD Gothic Neo"/>
                <a:ea typeface="Apple SD Gothic Neo"/>
              </a:rPr>
              <a:t>② CU 형식화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715768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각 CU를 4-tuple로:  r = ⟨ S (subject), Θ (condition), Π (constraint), κ (context) 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30752"/>
            <a:ext cx="6400800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849624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9384"/>
                </a:solidFill>
                <a:latin typeface="Apple SD Gothic Neo"/>
                <a:ea typeface="Apple SD Gothic Neo"/>
              </a:rPr>
              <a:t>③ 참조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849624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명시적 참조는 정규식, 암시적 참조(“제1항” 등)는 소형 LLM으로 해석 → REFERS_TO 엣지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983480"/>
            <a:ext cx="6400800" cy="123444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138928"/>
            <a:ext cx="5943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761"/>
                </a:solidFill>
                <a:latin typeface="Apple SD Gothic Neo"/>
                <a:ea typeface="Apple SD Gothic Neo"/>
              </a:rPr>
              <a:t>actor-CU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 의무·금지·허가 (판단 대상)    vs    </a:t>
            </a: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meta-CU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 적용 가능성 (선행 평가)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Apple SD Gothic Neo"/>
                <a:ea typeface="Apple SD Gothic Neo"/>
              </a:rPr>
              <a:t>meta-CU가 먼저 적용 범위를 게이팅 — 독립 위반으로는 보고되지 않음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463040"/>
            <a:ext cx="4361688" cy="4754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1645920"/>
            <a:ext cx="3813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8B931"/>
                </a:solidFill>
                <a:latin typeface="Apple SD Gothic Neo"/>
                <a:ea typeface="Apple SD Gothic Neo"/>
              </a:rPr>
              <a:t>예시 — GDPR Art. 9(1)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057400"/>
            <a:ext cx="381304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ADCFC"/>
                </a:solidFill>
                <a:latin typeface="Apple SD Gothic Neo"/>
                <a:ea typeface="Apple SD Gothic Neo"/>
              </a:rPr>
              <a:t>“인종·민족, 정치적 견해, 건강 … 특수범주 개인정보의 처리는 금지된다”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971800"/>
            <a:ext cx="1234440" cy="420624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53528" y="3063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Apple SD Gothic Neo"/>
                <a:ea typeface="Apple SD Gothic Neo"/>
              </a:rPr>
              <a:t>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06324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</a:rPr>
              <a:t>ARTICLE:9 / POINT:1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3483864"/>
            <a:ext cx="1234440" cy="420624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53528" y="35753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Apple SD Gothic Neo"/>
                <a:ea typeface="Apple SD Gothic Neo"/>
              </a:rPr>
              <a:t>subject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35753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</a:rPr>
              <a:t>Processing of personal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43800" y="3995928"/>
            <a:ext cx="1234440" cy="420624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53528" y="40873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Apple SD Gothic Neo"/>
                <a:ea typeface="Apple SD Gothic Neo"/>
              </a:rPr>
              <a:t>constraint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08736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</a:rPr>
              <a:t>prohibited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3800" y="4507992"/>
            <a:ext cx="1234440" cy="420624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53528" y="4599431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Apple SD Gothic Neo"/>
                <a:ea typeface="Apple SD Gothic Neo"/>
              </a:rPr>
              <a:t>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4599431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</a:rPr>
              <a:t>8개 특수범주 (인종, 건강 …)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5020056"/>
            <a:ext cx="1234440" cy="420624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53528" y="51114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Apple SD Gothic Neo"/>
                <a:ea typeface="Apple SD Gothic Neo"/>
              </a:rPr>
              <a:t>condition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511149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</a:rPr>
              <a:t>null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5532120"/>
            <a:ext cx="1234440" cy="420624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53528" y="5623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Apple SD Gothic Neo"/>
                <a:ea typeface="Apple SD Gothic Neo"/>
              </a:rPr>
              <a:t>Ref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562356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ple SD Gothic Neo"/>
                <a:ea typeface="Apple SD Gothic Neo"/>
              </a:rPr>
              <a:t>null  (예: Art.37 CU → [A9, A10])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METHOD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Context Graph 구축 — 상황의 형식화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5440680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6642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Apple SD Gothic Neo"/>
                <a:ea typeface="Apple SD Gothic Neo"/>
              </a:rPr>
              <a:t>Step 1 — ER-triple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084831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(subject, predicate, object) 트리플로 사건 분해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GraphRAG의 LLM 기반 추출 기법 차용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예: (Actor_1, employedBy, Priv.HospitalGroup)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46304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0488" y="1463040"/>
            <a:ext cx="5440680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66420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9384"/>
                </a:solidFill>
                <a:latin typeface="Apple SD Gothic Neo"/>
                <a:ea typeface="Apple SD Gothic Neo"/>
              </a:rPr>
              <a:t>Step 2 — Policy-guided Hypernym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84831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엔티티를 정책 어휘(H)로 명시적 정규화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 (예: EHR 데이터 → 'personal data')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dense retrieval로 정책 조각 top-M 검색 → 후보 제안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Premise 근거 제안은 STRONG, 그 외 WEAK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023360"/>
            <a:ext cx="1106424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eq_hypern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87952"/>
            <a:ext cx="6720840" cy="5117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4809744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pple SD Gothic Neo"/>
                <a:ea typeface="Apple SD Gothic Neo"/>
              </a:rPr>
              <a:t>후보별 confidence를 max-pooling, STRONG에 β 보너스 → 엔티티당 상위 N개 hypernym 유지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4224528"/>
            <a:ext cx="2743200" cy="731520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4334256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8B931"/>
                </a:solidFill>
                <a:latin typeface="Apple SD Gothic Neo"/>
                <a:ea typeface="Apple SD Gothic Neo"/>
              </a:rPr>
              <a:t>β = 0.3,  N = 5</a:t>
            </a:r>
          </a:p>
          <a:p>
            <a:pPr algn="l"/>
            <a:r>
              <a:rPr sz="1000" b="0" i="0">
                <a:solidFill>
                  <a:srgbClr val="CADCFC"/>
                </a:solidFill>
                <a:latin typeface="Apple SD Gothic Neo"/>
                <a:ea typeface="Apple SD Gothic Neo"/>
              </a:rPr>
              <a:t>(실험 설정)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4406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왜 명시적 매핑인가? 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LLM 내부 표현에 맡기던 개념 매핑을 외부화하여 투명성 확보 + 후속 추론 안정화 → 재현 가능하고 감사(audit) 가능한 정렬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METHOD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Compliance Gate ① — 후보 검색과 CU Plan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54480"/>
            <a:ext cx="23317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554480"/>
            <a:ext cx="2331720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17190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Apple SD Gothic Neo"/>
                <a:ea typeface="Apple SD Gothic Neo"/>
              </a:rPr>
              <a:t>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21408"/>
            <a:ext cx="2011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Gᶜ에서 actor·data·system
중심 사실 앵커 그룹화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53512" y="2286000"/>
            <a:ext cx="402336" cy="0"/>
          </a:xfrm>
          <a:prstGeom prst="line">
            <a:avLst/>
          </a:prstGeom>
          <a:ln w="2286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10712" y="1554480"/>
            <a:ext cx="23317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E93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10712" y="1554480"/>
            <a:ext cx="2331720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93592" y="17190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9384"/>
                </a:solidFill>
                <a:latin typeface="Apple SD Gothic Neo"/>
                <a:ea typeface="Apple SD Gothic Neo"/>
              </a:rPr>
              <a:t>Bi-encoder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121408"/>
            <a:ext cx="2011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S(a,c): entity·hypernym
유사도 + overlap bonus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97295" y="2286000"/>
            <a:ext cx="402336" cy="0"/>
          </a:xfrm>
          <a:prstGeom prst="line">
            <a:avLst/>
          </a:prstGeom>
          <a:ln w="2286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54496" y="1554480"/>
            <a:ext cx="23317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54496" y="1554480"/>
            <a:ext cx="2331720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37376" y="1719072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pple SD Gothic Neo"/>
                <a:ea typeface="Apple SD Gothic Neo"/>
              </a:rPr>
              <a:t>Cross-encoder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121408"/>
            <a:ext cx="20116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q(a)=[pred; actor; obj]
d(c)=[subj; constr; cond]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2286000"/>
            <a:ext cx="402336" cy="0"/>
          </a:xfrm>
          <a:prstGeom prst="line">
            <a:avLst/>
          </a:prstGeom>
          <a:ln w="2286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098280" y="1554480"/>
            <a:ext cx="182880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B9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554480"/>
            <a:ext cx="1828800" cy="64008"/>
          </a:xfrm>
          <a:prstGeom prst="rect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81160" y="171907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pple SD Gothic Neo"/>
                <a:ea typeface="Apple SD Gothic Neo"/>
              </a:rPr>
              <a:t>CU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121408"/>
            <a:ext cx="1508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anchor별 Top-K
판단 대상 규칙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429000"/>
            <a:ext cx="11064240" cy="105156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eq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21024"/>
            <a:ext cx="10332720" cy="32958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4400" y="4041648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엔티티 임베딩 + hypernym 임베딩 + 용어 중복 보너스의 3-파트 점수 → 넓게 거른 뒤(top-K₁) cross-encoder로 정밀 재정렬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80060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Retrieval 단계가 ‘무엇을 판단할지’를 구조적으로 한정 — LLM이 받는 입력은 anchor 1개 + 선별된 CU Plan뿐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쿼리-문서 유사도가 아닌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anchor-규범 정렬: 행위자·데이터 유형이 규범의 subject와 맞는 CU만 후보로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250" b="1" i="0">
                <a:solidFill>
                  <a:srgbClr val="1F2937"/>
                </a:solidFill>
                <a:latin typeface="Apple SD Gothic Neo"/>
                <a:ea typeface="Apple SD Gothic Neo"/>
              </a:rPr>
              <a:t>funneling 구조(저비용 bi-encoder → 고비용 cross-encoder)로 web-scale 처리 비용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METHOD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Compliance Gate ② — 판단·예외 처리·집계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5440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5440680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pple SD Gothic Neo"/>
                <a:ea typeface="Apple SD Gothic Neo"/>
              </a:rPr>
              <a:t>Listwise LLM Judgment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066543"/>
            <a:ext cx="498348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입력: evidence window W(a) (anchor 중심 부분그래프) + CU Plan 전체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출력: CU별 (label ŷ, confidence s, rationale, evidence)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명시적 모순 우선, </a:t>
            </a: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침묵으로부터의 추론 금지 → 모호하면 INSUFFICIENT / NOT_APPLICABLE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463040"/>
            <a:ext cx="54406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0488" y="1463040"/>
            <a:ext cx="5440680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4572E"/>
                </a:solidFill>
                <a:latin typeface="Apple SD Gothic Neo"/>
                <a:ea typeface="Apple SD Gothic Neo"/>
              </a:rPr>
              <a:t>Reference-edge Exception 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66543"/>
            <a:ext cx="498348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NON_COMPLIANT 판정 시 reference closure ℛ(c) 계산</a:t>
            </a: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양방향 REFERS/DERIVES 엣지, hop 무제한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2차 LLM 호출로 ℛ(c) 내 유효 예외 존재 확인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예외 성립 → COMPLIANT로 뒤집음 = </a:t>
            </a:r>
            <a:r>
              <a:rPr sz="1150" b="0" i="0">
                <a:solidFill>
                  <a:srgbClr val="1F2937"/>
                </a:solidFill>
                <a:latin typeface="Apple SD Gothic Neo"/>
                <a:ea typeface="Apple SD Gothic Neo"/>
              </a:rPr>
              <a:t>defeasible logic의 실용적 구현</a:t>
            </a:r>
          </a:p>
        </p:txBody>
      </p:sp>
      <p:pic>
        <p:nvPicPr>
          <p:cNvPr id="19" name="Picture 18" descr="eq_ju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11296"/>
            <a:ext cx="4480560" cy="286572"/>
          </a:xfrm>
          <a:prstGeom prst="rect">
            <a:avLst/>
          </a:prstGeom>
        </p:spPr>
      </p:pic>
      <p:pic>
        <p:nvPicPr>
          <p:cNvPr id="20" name="Picture 19" descr="eq_overr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566160"/>
            <a:ext cx="4754880" cy="19861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66928" y="4206240"/>
            <a:ext cx="1106424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E8B931"/>
                </a:solidFill>
                <a:latin typeface="Apple SD Gothic Neo"/>
                <a:ea typeface="Apple SD Gothic Neo"/>
              </a:rPr>
              <a:t>Article-level Aggregation (violation-first):  </a:t>
            </a:r>
            <a:r>
              <a:rPr sz="1250" b="0" i="0">
                <a:solidFill>
                  <a:srgbClr val="FFFFFF"/>
                </a:solidFill>
                <a:latin typeface="Apple SD Gothic Neo"/>
                <a:ea typeface="Apple SD Gothic Neo"/>
              </a:rPr>
              <a:t>조항에 연결된 CU 중 하나라도 NON_COMPLIANT면 최고 확신도 위반을 보고, 아니면 최고 확신도 라벨 반환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4864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설계 의도: 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위반 탐지 누락(false negative)을 최소화 — 인간 검토자가 후속 확인하는 human-in-the-loop 운영을 전제로 한 recall 우선 설계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실험 설정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54406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5440680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9384"/>
                </a:solidFill>
                <a:latin typeface="Apple SD Gothic Neo"/>
                <a:ea typeface="Apple SD Gothic Neo"/>
              </a:rPr>
              <a:t>GCS-300 벤치마크 (자체 구축)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066543"/>
            <a:ext cx="49834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DPA·법원 결정 등 1차 법률 자료 기반 semi-synthetic 시나리오 300개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7단계 구축: 수집→정규화→GPT-5 사전요약→사람 검토→비식별 재작성→라벨링→문서화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라벨 5종: violation · types · articles · lawful_basis · risk_level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연구윤리상 비공개 </a:t>
            </a:r>
            <a:r>
              <a:rPr sz="1100" b="0" i="0">
                <a:solidFill>
                  <a:srgbClr val="1F2937"/>
                </a:solidFill>
                <a:latin typeface="Apple SD Gothic Neo"/>
                <a:ea typeface="Apple SD Gothic Neo"/>
              </a:rPr>
              <a:t>(프로토콜·샘플만 공개)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463040"/>
            <a:ext cx="54406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0488" y="1463040"/>
            <a:ext cx="5440680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Apple SD Gothic Neo"/>
                <a:ea typeface="Apple SD Gothic Neo"/>
              </a:rPr>
              <a:t>Baselines &amp;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66543"/>
            <a:ext cx="49834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Raw LLM (전문 직접 입력) / Vanilla RAG (Top-8/30) / GraphRAG (local·global)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GPT-4o · GPT-4.1 · GPT-5-thinking + 법률 특화 SaulLM-7B, Lawma-8B, Llama3-8B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50" b="1" i="0">
                <a:solidFill>
                  <a:srgbClr val="1F2937"/>
                </a:solidFill>
                <a:latin typeface="Apple SD Gothic Neo"/>
                <a:ea typeface="Apple SD Gothic Neo"/>
              </a:rPr>
              <a:t>zero-shot, temperature 0, 동일 프롬프트·판정 스키마, 임베딩 text-embedding-3-large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14800"/>
            <a:ext cx="11064240" cy="91440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Metrics: 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micro/macro F1 · F2(β=2, recall 2배 가중 — HITL 실무 반영) · MCC · LLM Rater(강력 모델 3개 앙상블의 법리 평가)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303520"/>
            <a:ext cx="1106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연구 질문:  </a:t>
            </a:r>
            <a:r>
              <a:rPr sz="1250" b="0" i="0">
                <a:solidFill>
                  <a:srgbClr val="1F2937"/>
                </a:solidFill>
                <a:latin typeface="Apple SD Gothic Neo"/>
                <a:ea typeface="Apple SD Gothic Neo"/>
              </a:rPr>
              <a:t>RQ1 정확도·강건성   RQ2 모듈별 기여(ablation)   RQ3 그래프 충실도   RQ4 프롬프트 민감도   RQ5 주제별 사례 분석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RQ1 — 정확도: 모든 모델에서 일관된 향상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15</a:t>
            </a:r>
          </a:p>
        </p:txBody>
      </p:sp>
      <p:pic>
        <p:nvPicPr>
          <p:cNvPr id="11" name="Picture 10" descr="chart_rq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7498079" cy="332841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21040" y="1554480"/>
            <a:ext cx="32918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64008" cy="102412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664207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E9384"/>
                </a:solidFill>
                <a:latin typeface="Apple SD Gothic Neo"/>
                <a:ea typeface="Apple SD Gothic Neo"/>
              </a:rPr>
              <a:t>+4.1 ~ 7.2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21408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pple SD Gothic Neo"/>
                <a:ea typeface="Apple SD Gothic Neo"/>
              </a:rPr>
              <a:t>micro-F1 vs Raw LLM·RAG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715768"/>
            <a:ext cx="32918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2715768"/>
            <a:ext cx="64008" cy="10241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2825496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Apple SD Gothic Neo"/>
                <a:ea typeface="Apple SD Gothic Neo"/>
              </a:rPr>
              <a:t>+12 ~ 20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82696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pple SD Gothic Neo"/>
                <a:ea typeface="Apple SD Gothic Neo"/>
              </a:rPr>
              <a:t>F2 (recall 가중) — 위반 누락 대폭 감소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877056"/>
            <a:ext cx="32918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3877056"/>
            <a:ext cx="64008" cy="102412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49640" y="3986784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E4572E"/>
                </a:solidFill>
                <a:latin typeface="Apple SD Gothic Neo"/>
                <a:ea typeface="Apple SD Gothic Neo"/>
              </a:rPr>
              <a:t>+12.8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43984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Apple SD Gothic Neo"/>
                <a:ea typeface="Apple SD Gothic Neo"/>
              </a:rPr>
              <a:t>macro-F1 vs GraphRAG (GPT-4.1)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120640"/>
            <a:ext cx="11064240" cy="1051560"/>
          </a:xfrm>
          <a:prstGeom prst="rect">
            <a:avLst/>
          </a:prstGeom>
          <a:solidFill>
            <a:srgbClr val="E8F0FE"/>
          </a:solidFill>
          <a:ln w="9525">
            <a:solidFill>
              <a:srgbClr val="B9C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248656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E2761"/>
                </a:solidFill>
                <a:latin typeface="Apple SD Gothic Neo"/>
                <a:ea typeface="Apple SD Gothic Neo"/>
              </a:rPr>
              <a:t>관찰:  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GraphRAG는 RAG 대비 유의미한 향상 없음 — 그래프 '검색'이 아니라 그래프 '추론 구조화'가 이득의 원천. 7–8B 오픈 모델(SaulLM 등)에서도 +2~4pp 향상 → 프레임워크 효과는 모델 규모와 독립적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RQ2 — Ablation: 무엇이 성능을 만드는가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16</a:t>
            </a:r>
          </a:p>
        </p:txBody>
      </p:sp>
      <p:pic>
        <p:nvPicPr>
          <p:cNvPr id="11" name="Picture 10" descr="chart_r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675120" cy="3291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0" y="1600200"/>
            <a:ext cx="4297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1600200"/>
            <a:ext cx="64008" cy="1207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171907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pple SD Gothic Neo"/>
                <a:ea typeface="Apple SD Gothic Neo"/>
              </a:rPr>
              <a:t>Context Graph 제거: Recall 69.4 → 33.1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0312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Precision은 71.4로 오히려 상승 — 보수적 과소예측으로 전환, 위반 2/3를 놓침 (Table 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953512"/>
            <a:ext cx="4297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2953512"/>
            <a:ext cx="64008" cy="1207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43800" y="307238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pple SD Gothic Neo"/>
                <a:ea typeface="Apple SD Gothic Neo"/>
              </a:rPr>
              <a:t>Ref. traversal 제거: Precision 41.0 (최저)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56432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예외·참조 조항을 못 보고 과잉 위반 판정 — 참조 순회는 false alarm 억제 장치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306824"/>
            <a:ext cx="429768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4306824"/>
            <a:ext cx="64008" cy="1207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43800" y="4425696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Apple SD Gothic Neo"/>
                <a:ea typeface="Apple SD Gothic Neo"/>
              </a:rPr>
              <a:t>Anchoring 없는 전체 그래프 입력 (−8.1pp)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09744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Apple SD Gothic Neo"/>
                <a:ea typeface="Apple SD Gothic Neo"/>
              </a:rPr>
              <a:t>정보 과잉은 오히려 해롭다 — 구조가 아니라 ‘선별’이 핵심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486400"/>
            <a:ext cx="11064240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ple SD Gothic Neo"/>
                <a:ea typeface="Apple SD Gothic Neo"/>
              </a:rPr>
              <a:t>결론: 단일 모듈이 아닌 </a:t>
            </a:r>
            <a:r>
              <a:rPr sz="1250" b="1" i="0">
                <a:solidFill>
                  <a:srgbClr val="E8B931"/>
                </a:solidFill>
                <a:latin typeface="Apple SD Gothic Neo"/>
                <a:ea typeface="Apple SD Gothic Neo"/>
              </a:rPr>
              <a:t>anchoring × reference traversal의 시너지</a:t>
            </a:r>
            <a:r>
              <a:rPr sz="1250" b="0" i="0">
                <a:solidFill>
                  <a:srgbClr val="FFFFFF"/>
                </a:solidFill>
                <a:latin typeface="Apple SD Gothic Neo"/>
                <a:ea typeface="Apple SD Gothic Neo"/>
              </a:rPr>
              <a:t>가 성능의 원천 — 모든 구성요소가 유의미하게 기여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RQ3–5 — 충실도 · 견고성 · 사례 분석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360273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3602736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1645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9384"/>
                </a:solidFill>
                <a:latin typeface="Apple SD Gothic Neo"/>
                <a:ea typeface="Apple SD Gothic Neo"/>
              </a:rPr>
              <a:t>RQ3  그래프 충실도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1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Cycle-consistency: 텍스트→그래프→텍스트 5회 반복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Policy: semantic 0.875→0.869 (안정), structural ≈ 1.0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Context: 0.913→0.852 수렴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노이즈 10% 주입 시 0.823으로 하락 → </a:t>
            </a:r>
            <a:r>
              <a:rPr sz="1100" b="0" i="0">
                <a:solidFill>
                  <a:srgbClr val="1F2937"/>
                </a:solidFill>
                <a:latin typeface="Apple SD Gothic Neo"/>
                <a:ea typeface="Apple SD Gothic Neo"/>
              </a:rPr>
              <a:t>지표가 품질 차이를 실제로 변별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6824" y="1463040"/>
            <a:ext cx="360273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06824" y="1463040"/>
            <a:ext cx="3602736" cy="640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62856" y="1645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E2761"/>
                </a:solidFill>
                <a:latin typeface="Apple SD Gothic Neo"/>
                <a:ea typeface="Apple SD Gothic Neo"/>
              </a:rPr>
              <a:t>RQ4  프롬프트 민감도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084831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패러프레이즈 변형 간 F1 range: 6.5pp</a:t>
            </a:r>
            <a:r>
              <a:rPr sz="1100" b="0" i="0">
                <a:solidFill>
                  <a:srgbClr val="1F2937"/>
                </a:solidFill>
                <a:latin typeface="Apple SD Gothic Neo"/>
                <a:ea typeface="Apple SD Gothic Neo"/>
              </a:rPr>
              <a:t>  (Raw LLM 13.2pp, RAG 5.8pp)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→ 단일 ‘golden prompt’의 산물이 아님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1" i="0">
                <a:solidFill>
                  <a:srgbClr val="1E2761"/>
                </a:solidFill>
                <a:latin typeface="Apple SD Gothic Neo"/>
                <a:ea typeface="Apple SD Gothic Neo"/>
              </a:rPr>
              <a:t>▸ </a:t>
            </a:r>
            <a:r>
              <a:rPr sz="1100" b="1" i="0">
                <a:solidFill>
                  <a:srgbClr val="1F2937"/>
                </a:solidFill>
                <a:latin typeface="Apple SD Gothic Neo"/>
                <a:ea typeface="Apple SD Gothic Neo"/>
              </a:rPr>
              <a:t>few-shot 예시 추가 시 모든 모델에서 일관 향상 (GPT-5: 57.1 → 60.2)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63040"/>
            <a:ext cx="360273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3602736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645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E4572E"/>
                </a:solidFill>
                <a:latin typeface="Apple SD Gothic Neo"/>
                <a:ea typeface="Apple SD Gothic Neo"/>
              </a:rPr>
              <a:t>RQ5  주제별 분석</a:t>
            </a:r>
          </a:p>
        </p:txBody>
      </p:sp>
      <p:pic>
        <p:nvPicPr>
          <p:cNvPr id="22" name="Picture 21" descr="chart_rq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103120"/>
            <a:ext cx="3364992" cy="19019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02752" y="411480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Ch.V(국외이전): decision-tree 구조 → Recall 99.2%, FPR 4.4%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050" b="1" i="0">
                <a:solidFill>
                  <a:srgbClr val="1F2937"/>
                </a:solidFill>
                <a:latin typeface="Apple SD Gothic Neo"/>
                <a:ea typeface="Apple SD Gothic Neo"/>
              </a:rPr>
              <a:t>Ch.III: 키워드 과민(‘transparency’) 회피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9384"/>
                </a:solidFill>
                <a:latin typeface="Apple SD Gothic Neo"/>
                <a:ea typeface="Apple SD Gothic Neo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Apple SD Gothic Neo"/>
                <a:ea typeface="Apple SD Gothic Neo"/>
              </a:rPr>
              <a:t>결론 및 한계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11338560" y="457200"/>
            <a:ext cx="310896" cy="201168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49456" y="457200"/>
            <a:ext cx="256032" cy="237744"/>
          </a:xfrm>
          <a:prstGeom prst="line">
            <a:avLst/>
          </a:prstGeom>
          <a:ln w="17780">
            <a:solidFill>
              <a:srgbClr val="9FB4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92840" y="612648"/>
            <a:ext cx="100584" cy="100584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03736" y="411480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9767" y="649224"/>
            <a:ext cx="100584" cy="1005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AA7BD"/>
                </a:solidFill>
                <a:latin typeface="Apple SD Gothic Neo"/>
                <a:ea typeface="Apple SD Gothic Neo"/>
              </a:rPr>
              <a:t>GraphCompliance · arXiv:2510.26309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9AA7BD"/>
                </a:solidFill>
                <a:latin typeface="Apple SD Gothic Neo"/>
                <a:ea typeface="Apple SD Gothic Neo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54406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5440680" cy="64008"/>
          </a:xfrm>
          <a:prstGeom prst="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9384"/>
                </a:solidFill>
                <a:latin typeface="Apple SD Gothic Neo"/>
                <a:ea typeface="Apple SD Gothic Neo"/>
              </a:rPr>
              <a:t>기여 (Takeaways)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03120"/>
            <a:ext cx="4983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규범의 구조 vs 상황의 비정형성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간극을 dual-graph alignment로 해소한 neuro-symbolic 프레임워크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결정적 그래프 연산 + LLM 의미 판단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의 역할 분담 — 검증 가능한 컴플라이언스 자동화의 경로 제시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GDPR 300 시나리오에서 SOTA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micro-F1 +4.1~7.2pp, recall 중심의 실무 친화적 향상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0E9384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스키마는 policy-agnostic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premise/CU 설계는 타 규제에도 적용 가능하도록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463040"/>
            <a:ext cx="54406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0488" y="1463040"/>
            <a:ext cx="5440680" cy="6400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16459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E4572E"/>
                </a:solidFill>
                <a:latin typeface="Apple SD Gothic Neo"/>
                <a:ea typeface="Apple SD Gothic Neo"/>
              </a:rPr>
              <a:t>한계 및 향후 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103120"/>
            <a:ext cx="49834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그래프 추출 품질에 의존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초기 변환 오류가 최종 판단으로 전파될 수 있음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GDPR 단일 도메인 검증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금융·의료 등 타 규제 일반화는 미확인 (future work)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GCS-300 비공개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재현성·외부 검증 제약 (프로토콜·샘플만 공개)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E4572E"/>
                </a:solidFill>
                <a:latin typeface="Apple SD Gothic Neo"/>
                <a:ea typeface="Apple SD Gothic Neo"/>
              </a:rPr>
              <a:t>▸ </a:t>
            </a:r>
            <a:r>
              <a:rPr sz="1200" b="1" i="0">
                <a:solidFill>
                  <a:srgbClr val="1F2937"/>
                </a:solidFill>
                <a:latin typeface="Apple SD Gothic Neo"/>
                <a:ea typeface="Apple SD Gothic Neo"/>
              </a:rPr>
              <a:t>프롬프트 의존 잔존</a:t>
            </a:r>
            <a:r>
              <a:rPr sz="1200" b="0" i="0">
                <a:solidFill>
                  <a:srgbClr val="1F2937"/>
                </a:solidFill>
                <a:latin typeface="Apple SD Gothic Neo"/>
                <a:ea typeface="Apple SD Gothic Neo"/>
              </a:rPr>
              <a:t> — 저자들은 agent network 설계로 완화 제안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07040" y="822960"/>
            <a:ext cx="182880" cy="182880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38560" y="1645920"/>
            <a:ext cx="237744" cy="23774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2651760"/>
            <a:ext cx="137160" cy="13716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3657600"/>
            <a:ext cx="164592" cy="164592"/>
          </a:xfrm>
          <a:prstGeom prst="ellipse">
            <a:avLst/>
          </a:prstGeom>
          <a:solidFill>
            <a:srgbClr val="E8B9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0698480" y="914400"/>
            <a:ext cx="758952" cy="850392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945368" y="1764792"/>
            <a:ext cx="512064" cy="950976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45368" y="2715768"/>
            <a:ext cx="566928" cy="1024128"/>
          </a:xfrm>
          <a:prstGeom prst="line">
            <a:avLst/>
          </a:prstGeom>
          <a:ln w="15240">
            <a:solidFill>
              <a:srgbClr val="3A4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777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8B931"/>
                </a:solidFill>
                <a:latin typeface="Apple SD Gothic Neo"/>
                <a:ea typeface="Apple SD Gothic Neo"/>
              </a:rP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ple SD Gothic Neo"/>
                <a:ea typeface="Apple SD Gothic Neo"/>
              </a:rPr>
              <a:t>함께 논의하고 싶은 질문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40280"/>
            <a:ext cx="10058400" cy="1143000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404872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B931"/>
                </a:solidFill>
                <a:latin typeface="Apple SD Gothic Neo"/>
                <a:ea typeface="Apple SD Gothic Neo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7744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pple SD Gothic Neo"/>
                <a:ea typeface="Apple SD Gothic Neo"/>
              </a:rPr>
              <a:t>Semi-synthetic 벤치마크의 외적 타당도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52344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Apple SD Gothic Neo"/>
                <a:ea typeface="Apple SD Gothic Neo"/>
              </a:rPr>
              <a:t>익명화·추상화 과정에서 실제 사건의 법적 난도가 보존되었을까? 비공개 데이터셋 기반 SOTA 주장을 어떻게 평가해야 하는가?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38728"/>
            <a:ext cx="10058400" cy="1143000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B931"/>
                </a:solidFill>
                <a:latin typeface="Apple SD Gothic Neo"/>
                <a:ea typeface="Apple SD Gothic Neo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75888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pple SD Gothic Neo"/>
                <a:ea typeface="Apple SD Gothic Neo"/>
              </a:rPr>
              <a:t>절대 성능 57%의 실무적 의미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050791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Apple SD Gothic Neo"/>
                <a:ea typeface="Apple SD Gothic Neo"/>
              </a:rPr>
              <a:t>micro-F1 57.1%는 자동 판정엔 부족 — HITL 보조 도구로서의 가치 vs '컴플라이언스 자동화'라는 프레이밍의 간극은?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837176"/>
            <a:ext cx="10058400" cy="1143000"/>
          </a:xfrm>
          <a:prstGeom prst="rect">
            <a:avLst/>
          </a:prstGeom>
          <a:solidFill>
            <a:srgbClr val="2C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001768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B931"/>
                </a:solidFill>
                <a:latin typeface="Apple SD Gothic Neo"/>
                <a:ea typeface="Apple SD Gothic Neo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974336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pple SD Gothic Neo"/>
                <a:ea typeface="Apple SD Gothic Neo"/>
              </a:rPr>
              <a:t>규제 개정과 그래프 유지보수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49240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ADCFC"/>
                </a:solidFill>
                <a:latin typeface="Apple SD Gothic Neo"/>
                <a:ea typeface="Apple SD Gothic Neo"/>
              </a:rPr>
              <a:t>법 개정 시 Policy Graph 재구축 비용은? LLM 기반 오프라인 구축의 오류가 전 시스템에 전파되는 위험 관리 방안은?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</a:rPr>
              <a:t>감사합니다 —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3937</Words>
  <Application>Microsoft Macintosh PowerPoint</Application>
  <PresentationFormat>와이드스크린</PresentationFormat>
  <Paragraphs>303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Apple SD Gothic Neo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민우 이</cp:lastModifiedBy>
  <cp:revision>2</cp:revision>
  <dcterms:created xsi:type="dcterms:W3CDTF">2013-01-27T09:14:16Z</dcterms:created>
  <dcterms:modified xsi:type="dcterms:W3CDTF">2026-06-10T12:37:26Z</dcterms:modified>
  <cp:category/>
</cp:coreProperties>
</file>